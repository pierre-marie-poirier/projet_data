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Playfair Displ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Pi M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5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3-27T16:42:56.120">
    <p:pos x="2148" y="1177"/>
    <p:text>valeur attendu</p:text>
  </p:cm>
  <p:cm authorId="0" idx="2" dt="2025-03-27T16:42:54.861">
    <p:pos x="3184" y="719"/>
    <p:text>valeur observé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26b6c7c0e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26b6c7c0e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26b6c7c0e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26b6c7c0e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26b6c7c0e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26b6c7c0e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26b6c7c0e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26b6c7c0e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26b6c7c0e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26b6c7c0e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26b6c7c0e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26b6c7c0e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26b6c7c0e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26b6c7c0e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26b6c7c0e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26b6c7c0e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26b6c7c0e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26b6c7c0e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26b6c7c0e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26b6c7c0e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26b6c7c0e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26b6c7c0e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26b6c7c0e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26b6c7c0e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3f083c6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3f083c6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5dbd54b4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5dbd54b4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3f083c6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3f083c6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3f083c65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3f083c65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3f083c65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3f083c65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3f083c65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3f083c65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3f083c65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3f083c65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3f083c65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3f083c65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3f083c65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3f083c65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3f083c65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43f083c65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des ventes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Librairie Lapage</a:t>
            </a:r>
            <a:endParaRPr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45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I : Présentation des KPI de l’entreprise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Chiffre d’affaire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Clients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Transactions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Produits vendus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II : Analyse Univarié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Analyse par age, sexe, produit et client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III : Etude de corrélation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G</a:t>
            </a:r>
            <a:r>
              <a:rPr lang="fr" sz="1100"/>
              <a:t>enre des clients et catégorie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 sz="1100"/>
              <a:t>Age des clients et : - montant d’achat </a:t>
            </a:r>
            <a:endParaRPr sz="1100"/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        - fréquence </a:t>
            </a:r>
            <a:endParaRPr sz="11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    	        - panier moyen</a:t>
            </a:r>
            <a:endParaRPr sz="11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     	        - catégorie des livres</a:t>
            </a:r>
            <a:endParaRPr sz="1100"/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 de l’analyse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l’objectif de l’analyse</a:t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/>
              <a:t>Partie I : Présentation des KPI de l’entreprise</a:t>
            </a:r>
            <a:endParaRPr sz="3800"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Chiffre d’affaires et moyennes mobiles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6087375" y="1152475"/>
            <a:ext cx="274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Trend relativement positive.</a:t>
            </a:r>
            <a:br>
              <a:rPr lang="fr"/>
            </a:br>
            <a:r>
              <a:rPr lang="fr"/>
              <a:t>Grosses variations fin 2021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Stabilisation depuis début 2022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5782576" cy="302396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Evolution du chiffre d’affaire par catégorie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7243300" y="1152475"/>
            <a:ext cx="183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chiffre d’affaires varie significativement selon la catégorie.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 catégorie 1 est dominante en termes de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 catégorie 2 semble plus fragile avec des variations brusques.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Depuis début 2022 le CA de ces 3 catégories s'est stabilisé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7177902" cy="373495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Evolution du nombre de clients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7243300" y="1152475"/>
            <a:ext cx="183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Pic client fin 2021 (période de </a:t>
            </a:r>
            <a:r>
              <a:rPr lang="fr"/>
              <a:t>fête</a:t>
            </a:r>
            <a:r>
              <a:rPr lang="fr"/>
              <a:t>?).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Depuis 2022 variation du nombre de clients entre 5700 et 5800 d'un mois sur l'autre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6938501" cy="356101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Evolution du nombre de transactions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7243300" y="1152475"/>
            <a:ext cx="183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Évolution</a:t>
            </a:r>
            <a:r>
              <a:rPr lang="fr"/>
              <a:t> similaire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pic du nombre de transaction fin 2021, puis variation assez importante d'un mois sur l'autre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6938501" cy="35465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/>
              <a:t>Partie II : Analyse univariée</a:t>
            </a:r>
            <a:endParaRPr sz="3800"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Chiffre d’affaire par tranche d’age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7243300" y="1152475"/>
            <a:ext cx="183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</a:t>
            </a:r>
            <a:r>
              <a:rPr lang="fr"/>
              <a:t>lientèle cible: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 Personnes </a:t>
            </a:r>
            <a:r>
              <a:rPr lang="fr"/>
              <a:t>âgées</a:t>
            </a:r>
            <a:r>
              <a:rPr lang="fr"/>
              <a:t> de 30-50ans </a:t>
            </a:r>
            <a:endParaRPr/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6938499" cy="379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Chiffre d’affaire par genre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7243300" y="1152475"/>
            <a:ext cx="183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La clientèle est paritaire entre les femmes et les hommes</a:t>
            </a:r>
            <a:endParaRPr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5041927" cy="3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par produit : catégorie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7150300" y="1017450"/>
            <a:ext cx="1926000" cy="3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categorie 0 </a:t>
            </a:r>
            <a:r>
              <a:rPr lang="fr"/>
              <a:t>représente</a:t>
            </a:r>
            <a:r>
              <a:rPr lang="fr"/>
              <a:t> les produits les moins chère (11€ en moyenne) et sont les plus vendus (+400K produits vendus)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 contrario la catégorie 2 </a:t>
            </a:r>
            <a:r>
              <a:rPr lang="fr"/>
              <a:t>représente</a:t>
            </a:r>
            <a:r>
              <a:rPr lang="fr"/>
              <a:t> les produits les plus onéreux (76€ en moyenne) et sont les moins vendus (&lt;50K produits vendus)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6938498" cy="27474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par produit : top flop des produit en CA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6867125" y="1152475"/>
            <a:ext cx="2209200" cy="3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</a:t>
            </a:r>
            <a:r>
              <a:rPr lang="fr"/>
              <a:t>ègle</a:t>
            </a:r>
            <a:r>
              <a:rPr lang="fr"/>
              <a:t> des 20/80 globalement respectée  : 21.41% des produits génèrent 80% du 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Présence majoritaire cat.1 + 2 dans le top 20 ET cat 0 dans le flop 20 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3807825" cy="196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225" y="3139019"/>
            <a:ext cx="3728175" cy="1911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2625" y="1169850"/>
            <a:ext cx="2978276" cy="283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Analyse par produit : top flop des produits en vente</a:t>
            </a:r>
            <a:endParaRPr sz="2780"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6921850" y="1152475"/>
            <a:ext cx="21546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Règle des 20/80 globalement respectée : 24,8% des produits génèrent 80% des ventes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top 20 = cat1 et flop 20  = cat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2550"/>
            <a:ext cx="3577934" cy="185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28625"/>
            <a:ext cx="3609475" cy="185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4275" y="1169850"/>
            <a:ext cx="2966525" cy="29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 rot="10800000">
            <a:off x="1737675" y="3957550"/>
            <a:ext cx="1439700" cy="8652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Analyse par client: Dispersion client</a:t>
            </a:r>
            <a:endParaRPr sz="2780"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b="41697" l="0" r="7663" t="0"/>
          <a:stretch/>
        </p:blipFill>
        <p:spPr>
          <a:xfrm>
            <a:off x="3972025" y="4023557"/>
            <a:ext cx="1769600" cy="94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48375"/>
            <a:ext cx="4424172" cy="29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1792575" y="4023550"/>
            <a:ext cx="15279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Avec les 4 meilleurs clients (BtoB)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 rot="10800000">
            <a:off x="6352650" y="3957550"/>
            <a:ext cx="1439700" cy="8652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6393175" y="4023550"/>
            <a:ext cx="15279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Sans </a:t>
            </a:r>
            <a:r>
              <a:rPr lang="fr"/>
              <a:t>les 4 meilleurs clients (BtoB)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9828" y="948375"/>
            <a:ext cx="4424172" cy="290067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 rot="10800000">
            <a:off x="1468214" y="4260549"/>
            <a:ext cx="1385100" cy="740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Impact dans l’analyse </a:t>
            </a:r>
            <a:r>
              <a:rPr lang="fr" sz="2780"/>
              <a:t>précédente</a:t>
            </a:r>
            <a:endParaRPr sz="2780"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1520958" y="4317058"/>
            <a:ext cx="1470000" cy="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Avec les 4 meilleurs clients (BtoB)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 rot="10800000">
            <a:off x="6217200" y="4260492"/>
            <a:ext cx="1385100" cy="7407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6256114" y="4317001"/>
            <a:ext cx="1470000" cy="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Sans les 4 meilleurs clients (BtoB)</a:t>
            </a:r>
            <a:endParaRPr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9100"/>
            <a:ext cx="4459176" cy="33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825" y="867537"/>
            <a:ext cx="4459175" cy="332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/>
              <a:t>Partie III : Etude de corrélation</a:t>
            </a:r>
            <a:endParaRPr sz="3800"/>
          </a:p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Corrélation : Genre et catégorie</a:t>
            </a:r>
            <a:endParaRPr sz="2780"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100" y="4023550"/>
            <a:ext cx="91440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Genre et catégorie sont 2 variables qualitatives : chi2 car catégorie &gt; 2 colonnes.</a:t>
            </a:r>
            <a:br>
              <a:rPr lang="fr"/>
            </a:br>
            <a:r>
              <a:rPr lang="fr"/>
              <a:t>P-value &lt; 0,05 → on rejette l’hypothèse nulle, il y a une </a:t>
            </a:r>
            <a:r>
              <a:rPr lang="fr"/>
              <a:t>corrélation</a:t>
            </a:r>
            <a:r>
              <a:rPr lang="fr"/>
              <a:t> significative entre genre et catégorie</a:t>
            </a: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69850"/>
            <a:ext cx="3269617" cy="26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5617" y="1142475"/>
            <a:ext cx="4053864" cy="26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7" name="Google Shape;19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0975" y="1868737"/>
            <a:ext cx="2006575" cy="14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Corrélation</a:t>
            </a:r>
            <a:r>
              <a:rPr lang="fr" sz="2780"/>
              <a:t> : </a:t>
            </a:r>
            <a:r>
              <a:rPr lang="fr" sz="2780"/>
              <a:t>âge</a:t>
            </a:r>
            <a:r>
              <a:rPr lang="fr" sz="2780"/>
              <a:t> et montant total des achats</a:t>
            </a:r>
            <a:endParaRPr sz="2780"/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0" y="908625"/>
            <a:ext cx="91440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Âge</a:t>
            </a:r>
            <a:r>
              <a:rPr lang="fr"/>
              <a:t> et montant </a:t>
            </a:r>
            <a:r>
              <a:rPr lang="fr"/>
              <a:t>d'achat</a:t>
            </a:r>
            <a:r>
              <a:rPr lang="fr"/>
              <a:t>  sont 2 variables quantitatives : test de normalité </a:t>
            </a:r>
            <a:r>
              <a:rPr lang="fr"/>
              <a:t>âge</a:t>
            </a:r>
            <a:r>
              <a:rPr lang="fr"/>
              <a:t> et CA par </a:t>
            </a:r>
            <a:r>
              <a:rPr lang="fr"/>
              <a:t>âge</a:t>
            </a:r>
            <a:r>
              <a:rPr lang="fr"/>
              <a:t> P-value &lt; 0,05 → on utilise le test de </a:t>
            </a:r>
            <a:r>
              <a:rPr lang="fr"/>
              <a:t>corrélation</a:t>
            </a:r>
            <a:r>
              <a:rPr lang="fr"/>
              <a:t> de spearman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5344175" y="2063500"/>
            <a:ext cx="3952200" cy="29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 de Spearman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Corrélation négative (-0,87)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A partir de 30 ans, quand l'âge augmente, le montant total d’achat diminue.</a:t>
            </a:r>
            <a:endParaRPr/>
          </a:p>
        </p:txBody>
      </p:sp>
      <p:sp>
        <p:nvSpPr>
          <p:cNvPr id="205" name="Google Shape;205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7793"/>
            <a:ext cx="4419601" cy="3353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Corrélation : âge et fréquence d’achat</a:t>
            </a:r>
            <a:endParaRPr sz="2780"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0" y="908625"/>
            <a:ext cx="91440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Âge et fréquence d’achat = variables quantitatives : test de normalité fréquence par âge P-value &lt; 0,05 → on utilise le test de corrélation de spearman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5344175" y="2063500"/>
            <a:ext cx="3952200" cy="29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 de Spearman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Corrélation négative (-0,037)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p-value &gt; 0,05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Selon la p-value, la corrélation n'est pas significative (on ne peut pas conclure à une vraie relation). En réalité nous voyons qu'il y a une fréquence d'achat relativement faible pour les plus jeunes. A partir de 30-40ans les clients achètent très souvent et plus on avance dans les tranches d'age supérieur et plus la fréquence d'achat diminue.</a:t>
            </a:r>
            <a:endParaRPr/>
          </a:p>
        </p:txBody>
      </p:sp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5" name="Google Shape;2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1825"/>
            <a:ext cx="4118790" cy="33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Corrélation : âge et taille du panier moyen</a:t>
            </a:r>
            <a:endParaRPr sz="2780"/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0" y="908625"/>
            <a:ext cx="91440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Âge et panier moyen  =  variables quantitatives : test de normalité fréquence par âge P-value &lt; 0,05 → on utilise le test de corrélation de spearman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4876775" y="1599675"/>
            <a:ext cx="4419600" cy="33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 de Spearman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Corrélation positive (0,12)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p-value &lt; 0,05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note un paradoxe ici car la </a:t>
            </a:r>
            <a:r>
              <a:rPr lang="fr"/>
              <a:t>corrélation</a:t>
            </a:r>
            <a:r>
              <a:rPr lang="fr"/>
              <a:t> est </a:t>
            </a:r>
            <a:r>
              <a:rPr lang="fr"/>
              <a:t>légèrement</a:t>
            </a:r>
            <a:r>
              <a:rPr lang="fr"/>
              <a:t> positive et la tendance est négative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forte présence des 30-50 ans, qui ont un panier moyen très bas, tire visuellement la tendance vers le bas.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Cependant, la corrélation est influencée par les jeunes et les seniors, qui ont un panier moyen plus élevé, ce qui compense la tendance décroissante globale et produit un coefficient de </a:t>
            </a:r>
            <a:r>
              <a:rPr lang="fr"/>
              <a:t>corrélation</a:t>
            </a:r>
            <a:r>
              <a:rPr lang="fr"/>
              <a:t> légèrement positif.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panier moyen n’évolue pas de manière strictement monotone avec l’âge.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30-50 ans, majoritaires, ont un panier plus faible, ce qui masque partiellement l’effet des jeunes et des seniors.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4" name="Google Shape;2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4225"/>
            <a:ext cx="3947018" cy="31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Corrélation : âge et catégorie des livres achetés</a:t>
            </a:r>
            <a:endParaRPr sz="2780"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0" y="908625"/>
            <a:ext cx="91440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Âge  variable quantitative / catégorie variable qualitative : test de normalité catégorie par age P-value &lt; 0,05 → +de 2 valeurs on utilise le test de corrélation de Kruskal Wallis</a:t>
            </a:r>
            <a:endParaRPr/>
          </a:p>
        </p:txBody>
      </p:sp>
      <p:sp>
        <p:nvSpPr>
          <p:cNvPr id="231" name="Google Shape;231;p33"/>
          <p:cNvSpPr txBox="1"/>
          <p:nvPr>
            <p:ph idx="1" type="body"/>
          </p:nvPr>
        </p:nvSpPr>
        <p:spPr>
          <a:xfrm>
            <a:off x="5331100" y="1599675"/>
            <a:ext cx="3965400" cy="33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Test de Kruskal Wallis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statistiques : 71359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p-value = 0,00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hautement significatif. L</a:t>
            </a:r>
            <a:r>
              <a:rPr lang="fr"/>
              <a:t>'âge des clients varie </a:t>
            </a:r>
            <a:r>
              <a:rPr lang="fr"/>
              <a:t>énormément</a:t>
            </a:r>
            <a:r>
              <a:rPr lang="fr"/>
              <a:t> en fonction des catégories de livres, mais cela ne signifie pas nécessairement qu'il y a  une corrélation dans le sens classique du terme.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" y="1556750"/>
            <a:ext cx="5316712" cy="347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80"/>
              <a:t>Conclusion</a:t>
            </a:r>
            <a:endParaRPr sz="2780"/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0" y="1141200"/>
            <a:ext cx="9144000" cy="3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Distinguer les clients B to B des particuliers (dans les données)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L'âge</a:t>
            </a:r>
            <a:r>
              <a:rPr lang="fr"/>
              <a:t> des clients est un indicateur précieux dans l’analyse des ventes. Il détermine des comportements d’achats très </a:t>
            </a:r>
            <a:r>
              <a:rPr lang="fr"/>
              <a:t>différents</a:t>
            </a:r>
            <a:r>
              <a:rPr lang="fr"/>
              <a:t> (catégorie, panier moyen, fréquence). Les </a:t>
            </a:r>
            <a:r>
              <a:rPr lang="fr"/>
              <a:t>corrélations</a:t>
            </a:r>
            <a:r>
              <a:rPr lang="fr"/>
              <a:t> étudiées sont quasi toutes significatives.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</a:t>
            </a:r>
            <a:r>
              <a:rPr lang="fr"/>
              <a:t>ermet de mettre en place des stratégies pertinentes afin d’améliorer le chiffre d’affaire  (mettre un exemple)</a:t>
            </a:r>
            <a:endParaRPr/>
          </a:p>
        </p:txBody>
      </p:sp>
      <p:sp>
        <p:nvSpPr>
          <p:cNvPr id="240" name="Google Shape;240;p3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7200"/>
              <a:t>Q/A</a:t>
            </a:r>
            <a:endParaRPr sz="7200"/>
          </a:p>
        </p:txBody>
      </p:sp>
      <p:sp>
        <p:nvSpPr>
          <p:cNvPr id="246" name="Google Shape;246;p35"/>
          <p:cNvSpPr txBox="1"/>
          <p:nvPr>
            <p:ph idx="4294967295" type="body"/>
          </p:nvPr>
        </p:nvSpPr>
        <p:spPr>
          <a:xfrm>
            <a:off x="490250" y="908625"/>
            <a:ext cx="4723200" cy="7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lt1"/>
                </a:solidFill>
              </a:rPr>
              <a:t>Merci pour votre attention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7" name="Google Shape;247;p35"/>
          <p:cNvSpPr txBox="1"/>
          <p:nvPr>
            <p:ph idx="4294967295" type="body"/>
          </p:nvPr>
        </p:nvSpPr>
        <p:spPr>
          <a:xfrm>
            <a:off x="5331100" y="4471650"/>
            <a:ext cx="39654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lt1"/>
                </a:solidFill>
              </a:rPr>
              <a:t>Librairie Lapage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8" name="Google Shape;248;p3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