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Nunito"/>
      <p:regular r:id="rId26"/>
      <p:bold r:id="rId27"/>
      <p:italic r:id="rId28"/>
      <p:boldItalic r:id="rId29"/>
    </p:embeddedFont>
    <p:embeddedFont>
      <p:font typeface="Maven Pro"/>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slide" Target="slides/slide20.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avenPro-bold.fntdata"/><Relationship Id="rId30" Type="http://schemas.openxmlformats.org/officeDocument/2006/relationships/font" Target="fonts/MavenPro-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ddd887e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ddd887e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cb97ad5b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cb97ad5b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ddd887ed5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8ddd887ed5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ddd887ed5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8ddd887ed5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8ddd887ed5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8ddd887ed5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8ddd887ed5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8ddd887ed5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cb97ad5b7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cb97ad5b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8ddd887ed5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8ddd887ed5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8ddd887ed5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8ddd887ed5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ddd887ed5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8ddd887ed5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8ddd887ed5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8ddd887ed5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8ddd887ed5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8ddd887ed5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9cb97ad5b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9cb97ad5b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9cb97ad5b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9cb97ad5b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9cb97ad5b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9cb97ad5b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cb97ad5b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9cb97ad5b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cb97ad5b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cb97ad5b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cb97ad5b7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cb97ad5b7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9cb97ad5b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9cb97ad5b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9cb97ad5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9cb97ad5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Application de d</a:t>
            </a:r>
            <a:r>
              <a:rPr lang="fr"/>
              <a:t>étection</a:t>
            </a:r>
            <a:r>
              <a:rPr lang="fr"/>
              <a:t> des faux billets</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ONCFM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Sommaire</a:t>
            </a:r>
            <a:endParaRPr/>
          </a:p>
        </p:txBody>
      </p:sp>
      <p:sp>
        <p:nvSpPr>
          <p:cNvPr id="284" name="Google Shape;284;p14"/>
          <p:cNvSpPr txBox="1"/>
          <p:nvPr/>
        </p:nvSpPr>
        <p:spPr>
          <a:xfrm>
            <a:off x="394950" y="1803175"/>
            <a:ext cx="8273700" cy="30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dk2"/>
                </a:solidFill>
                <a:latin typeface="Nunito"/>
                <a:ea typeface="Nunito"/>
                <a:cs typeface="Nunito"/>
                <a:sym typeface="Nunito"/>
              </a:rPr>
              <a:t>1ere Partie : Présentation du projet</a:t>
            </a:r>
            <a:endParaRPr b="1" sz="1600">
              <a:solidFill>
                <a:schemeClr val="dk2"/>
              </a:solidFill>
              <a:latin typeface="Nunito"/>
              <a:ea typeface="Nunito"/>
              <a:cs typeface="Nunito"/>
              <a:sym typeface="Nunito"/>
            </a:endParaRPr>
          </a:p>
          <a:p>
            <a:pPr indent="0" lvl="0" marL="457200" rtl="0" algn="l">
              <a:spcBef>
                <a:spcPts val="0"/>
              </a:spcBef>
              <a:spcAft>
                <a:spcPts val="0"/>
              </a:spcAft>
              <a:buNone/>
            </a:pPr>
            <a:r>
              <a:rPr b="1" lang="fr" sz="1600">
                <a:solidFill>
                  <a:schemeClr val="dk2"/>
                </a:solidFill>
                <a:latin typeface="Nunito"/>
                <a:ea typeface="Nunito"/>
                <a:cs typeface="Nunito"/>
                <a:sym typeface="Nunito"/>
              </a:rPr>
              <a:t>Contexte et analyse exploratoire des données</a:t>
            </a:r>
            <a:endParaRPr b="1" sz="1600">
              <a:solidFill>
                <a:schemeClr val="dk2"/>
              </a:solidFill>
              <a:latin typeface="Nunito"/>
              <a:ea typeface="Nunito"/>
              <a:cs typeface="Nunito"/>
              <a:sym typeface="Nunito"/>
            </a:endParaRPr>
          </a:p>
          <a:p>
            <a:pPr indent="0" lvl="0" marL="457200" rtl="0" algn="l">
              <a:spcBef>
                <a:spcPts val="0"/>
              </a:spcBef>
              <a:spcAft>
                <a:spcPts val="0"/>
              </a:spcAft>
              <a:buNone/>
            </a:pPr>
            <a:r>
              <a:t/>
            </a:r>
            <a:endParaRPr b="1" sz="1600">
              <a:solidFill>
                <a:schemeClr val="dk2"/>
              </a:solidFill>
              <a:latin typeface="Nunito"/>
              <a:ea typeface="Nunito"/>
              <a:cs typeface="Nunito"/>
              <a:sym typeface="Nunito"/>
            </a:endParaRPr>
          </a:p>
          <a:p>
            <a:pPr indent="0" lvl="0" marL="0" rtl="0" algn="l">
              <a:spcBef>
                <a:spcPts val="0"/>
              </a:spcBef>
              <a:spcAft>
                <a:spcPts val="0"/>
              </a:spcAft>
              <a:buNone/>
            </a:pPr>
            <a:r>
              <a:rPr b="1" lang="fr" sz="1600">
                <a:solidFill>
                  <a:schemeClr val="dk2"/>
                </a:solidFill>
                <a:latin typeface="Nunito"/>
                <a:ea typeface="Nunito"/>
                <a:cs typeface="Nunito"/>
                <a:sym typeface="Nunito"/>
              </a:rPr>
              <a:t>2eme partie : Imputation des données avec la régression linéaire</a:t>
            </a:r>
            <a:endParaRPr b="1" sz="1600">
              <a:solidFill>
                <a:schemeClr val="dk2"/>
              </a:solidFill>
              <a:latin typeface="Nunito"/>
              <a:ea typeface="Nunito"/>
              <a:cs typeface="Nunito"/>
              <a:sym typeface="Nunito"/>
            </a:endParaRPr>
          </a:p>
          <a:p>
            <a:pPr indent="0" lvl="0" marL="0" rtl="0" algn="l">
              <a:spcBef>
                <a:spcPts val="0"/>
              </a:spcBef>
              <a:spcAft>
                <a:spcPts val="0"/>
              </a:spcAft>
              <a:buNone/>
            </a:pPr>
            <a:r>
              <a:rPr b="1" lang="fr" sz="1600">
                <a:solidFill>
                  <a:schemeClr val="dk2"/>
                </a:solidFill>
                <a:latin typeface="Nunito"/>
                <a:ea typeface="Nunito"/>
                <a:cs typeface="Nunito"/>
                <a:sym typeface="Nunito"/>
              </a:rPr>
              <a:t>	Définition, méthodologie application et performance du modèle</a:t>
            </a:r>
            <a:endParaRPr b="1" sz="1600">
              <a:solidFill>
                <a:schemeClr val="dk2"/>
              </a:solidFill>
              <a:latin typeface="Nunito"/>
              <a:ea typeface="Nunito"/>
              <a:cs typeface="Nunito"/>
              <a:sym typeface="Nunito"/>
            </a:endParaRPr>
          </a:p>
          <a:p>
            <a:pPr indent="0" lvl="0" marL="0" rtl="0" algn="l">
              <a:spcBef>
                <a:spcPts val="0"/>
              </a:spcBef>
              <a:spcAft>
                <a:spcPts val="0"/>
              </a:spcAft>
              <a:buNone/>
            </a:pPr>
            <a:r>
              <a:t/>
            </a:r>
            <a:endParaRPr b="1" sz="1600">
              <a:solidFill>
                <a:schemeClr val="dk2"/>
              </a:solidFill>
              <a:latin typeface="Nunito"/>
              <a:ea typeface="Nunito"/>
              <a:cs typeface="Nunito"/>
              <a:sym typeface="Nunito"/>
            </a:endParaRPr>
          </a:p>
          <a:p>
            <a:pPr indent="0" lvl="0" marL="0" rtl="0" algn="l">
              <a:spcBef>
                <a:spcPts val="0"/>
              </a:spcBef>
              <a:spcAft>
                <a:spcPts val="0"/>
              </a:spcAft>
              <a:buNone/>
            </a:pPr>
            <a:r>
              <a:rPr b="1" lang="fr" sz="1600">
                <a:solidFill>
                  <a:schemeClr val="dk2"/>
                </a:solidFill>
                <a:latin typeface="Nunito"/>
                <a:ea typeface="Nunito"/>
                <a:cs typeface="Nunito"/>
                <a:sym typeface="Nunito"/>
              </a:rPr>
              <a:t>3eme partie : Algorithmes de détection des faux billets</a:t>
            </a:r>
            <a:endParaRPr b="1" sz="1600">
              <a:solidFill>
                <a:schemeClr val="dk2"/>
              </a:solidFill>
              <a:latin typeface="Nunito"/>
              <a:ea typeface="Nunito"/>
              <a:cs typeface="Nunito"/>
              <a:sym typeface="Nunito"/>
            </a:endParaRPr>
          </a:p>
          <a:p>
            <a:pPr indent="0" lvl="0" marL="0" rtl="0" algn="l">
              <a:spcBef>
                <a:spcPts val="0"/>
              </a:spcBef>
              <a:spcAft>
                <a:spcPts val="0"/>
              </a:spcAft>
              <a:buNone/>
            </a:pPr>
            <a:r>
              <a:rPr b="1" lang="fr" sz="1600">
                <a:solidFill>
                  <a:schemeClr val="dk2"/>
                </a:solidFill>
                <a:latin typeface="Nunito"/>
                <a:ea typeface="Nunito"/>
                <a:cs typeface="Nunito"/>
                <a:sym typeface="Nunito"/>
              </a:rPr>
              <a:t>	Utilisation de 4 modèles : Régression linéaire, KNN, Random Forest et K-Mean</a:t>
            </a:r>
            <a:endParaRPr b="1" sz="1600">
              <a:solidFill>
                <a:schemeClr val="dk2"/>
              </a:solidFill>
              <a:latin typeface="Nunito"/>
              <a:ea typeface="Nunito"/>
              <a:cs typeface="Nunito"/>
              <a:sym typeface="Nunito"/>
            </a:endParaRPr>
          </a:p>
          <a:p>
            <a:pPr indent="0" lvl="0" marL="0" rtl="0" algn="l">
              <a:spcBef>
                <a:spcPts val="0"/>
              </a:spcBef>
              <a:spcAft>
                <a:spcPts val="0"/>
              </a:spcAft>
              <a:buNone/>
            </a:pPr>
            <a:r>
              <a:t/>
            </a:r>
            <a:endParaRPr b="1" sz="1600">
              <a:solidFill>
                <a:schemeClr val="dk2"/>
              </a:solidFill>
              <a:latin typeface="Nunito"/>
              <a:ea typeface="Nunito"/>
              <a:cs typeface="Nunito"/>
              <a:sym typeface="Nunito"/>
            </a:endParaRPr>
          </a:p>
          <a:p>
            <a:pPr indent="0" lvl="0" marL="0" rtl="0" algn="l">
              <a:spcBef>
                <a:spcPts val="0"/>
              </a:spcBef>
              <a:spcAft>
                <a:spcPts val="0"/>
              </a:spcAft>
              <a:buNone/>
            </a:pPr>
            <a:r>
              <a:rPr b="1" lang="fr" sz="1600">
                <a:solidFill>
                  <a:schemeClr val="dk2"/>
                </a:solidFill>
                <a:latin typeface="Nunito"/>
                <a:ea typeface="Nunito"/>
                <a:cs typeface="Nunito"/>
                <a:sym typeface="Nunito"/>
              </a:rPr>
              <a:t>4eme partie : Démo live</a:t>
            </a:r>
            <a:endParaRPr b="1" sz="1600">
              <a:solidFill>
                <a:schemeClr val="dk2"/>
              </a:solidFill>
              <a:latin typeface="Nunito"/>
              <a:ea typeface="Nunito"/>
              <a:cs typeface="Nunito"/>
              <a:sym typeface="Nunito"/>
            </a:endParaRPr>
          </a:p>
          <a:p>
            <a:pPr indent="0" lvl="0" marL="0" rtl="0" algn="l">
              <a:spcBef>
                <a:spcPts val="0"/>
              </a:spcBef>
              <a:spcAft>
                <a:spcPts val="0"/>
              </a:spcAft>
              <a:buNone/>
            </a:pPr>
            <a:r>
              <a:rPr b="1" lang="fr" sz="1600">
                <a:solidFill>
                  <a:schemeClr val="dk2"/>
                </a:solidFill>
                <a:latin typeface="Nunito"/>
                <a:ea typeface="Nunito"/>
                <a:cs typeface="Nunito"/>
                <a:sym typeface="Nunito"/>
              </a:rPr>
              <a:t>	Test de l’algorithme sur de nouveaux billets</a:t>
            </a:r>
            <a:endParaRPr b="1" sz="1600">
              <a:solidFill>
                <a:schemeClr val="dk2"/>
              </a:solidFill>
              <a:latin typeface="Nunito"/>
              <a:ea typeface="Nunito"/>
              <a:cs typeface="Nunito"/>
              <a:sym typeface="Nunito"/>
            </a:endParaRPr>
          </a:p>
        </p:txBody>
      </p:sp>
      <p:sp>
        <p:nvSpPr>
          <p:cNvPr id="285" name="Google Shape;285;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1ere Partie </a:t>
            </a:r>
            <a:endParaRPr/>
          </a:p>
          <a:p>
            <a:pPr indent="0" lvl="0" marL="0" rtl="0" algn="l">
              <a:spcBef>
                <a:spcPts val="0"/>
              </a:spcBef>
              <a:spcAft>
                <a:spcPts val="0"/>
              </a:spcAft>
              <a:buNone/>
            </a:pPr>
            <a:r>
              <a:rPr lang="fr"/>
              <a:t>Présentation du projet</a:t>
            </a:r>
            <a:endParaRPr/>
          </a:p>
        </p:txBody>
      </p:sp>
      <p:sp>
        <p:nvSpPr>
          <p:cNvPr id="291" name="Google Shape;291;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Exploration des données</a:t>
            </a:r>
            <a:endParaRPr/>
          </a:p>
        </p:txBody>
      </p:sp>
      <p:sp>
        <p:nvSpPr>
          <p:cNvPr id="297" name="Google Shape;297;p16"/>
          <p:cNvSpPr txBox="1"/>
          <p:nvPr>
            <p:ph idx="1" type="body"/>
          </p:nvPr>
        </p:nvSpPr>
        <p:spPr>
          <a:xfrm>
            <a:off x="1303800" y="1990050"/>
            <a:ext cx="11868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8" name="Google Shape;298;p16"/>
          <p:cNvPicPr preferRelativeResize="0"/>
          <p:nvPr/>
        </p:nvPicPr>
        <p:blipFill rotWithShape="1">
          <a:blip r:embed="rId3">
            <a:alphaModFix/>
          </a:blip>
          <a:srcRect b="41235" l="0" r="0" t="0"/>
          <a:stretch/>
        </p:blipFill>
        <p:spPr>
          <a:xfrm>
            <a:off x="56975" y="1441075"/>
            <a:ext cx="3783049" cy="3022549"/>
          </a:xfrm>
          <a:prstGeom prst="rect">
            <a:avLst/>
          </a:prstGeom>
          <a:noFill/>
          <a:ln>
            <a:noFill/>
          </a:ln>
        </p:spPr>
      </p:pic>
      <p:pic>
        <p:nvPicPr>
          <p:cNvPr id="299" name="Google Shape;299;p16"/>
          <p:cNvPicPr preferRelativeResize="0"/>
          <p:nvPr/>
        </p:nvPicPr>
        <p:blipFill>
          <a:blip r:embed="rId4">
            <a:alphaModFix/>
          </a:blip>
          <a:stretch>
            <a:fillRect/>
          </a:stretch>
        </p:blipFill>
        <p:spPr>
          <a:xfrm>
            <a:off x="4221450" y="1404100"/>
            <a:ext cx="4215901" cy="2138600"/>
          </a:xfrm>
          <a:prstGeom prst="rect">
            <a:avLst/>
          </a:prstGeom>
          <a:noFill/>
          <a:ln>
            <a:noFill/>
          </a:ln>
        </p:spPr>
      </p:pic>
      <p:pic>
        <p:nvPicPr>
          <p:cNvPr id="300" name="Google Shape;300;p16"/>
          <p:cNvPicPr preferRelativeResize="0"/>
          <p:nvPr/>
        </p:nvPicPr>
        <p:blipFill rotWithShape="1">
          <a:blip r:embed="rId5">
            <a:alphaModFix/>
          </a:blip>
          <a:srcRect b="0" l="4961" r="0" t="8037"/>
          <a:stretch/>
        </p:blipFill>
        <p:spPr>
          <a:xfrm>
            <a:off x="4182800" y="3649200"/>
            <a:ext cx="1642425" cy="1458325"/>
          </a:xfrm>
          <a:prstGeom prst="rect">
            <a:avLst/>
          </a:prstGeom>
          <a:noFill/>
          <a:ln>
            <a:noFill/>
          </a:ln>
        </p:spPr>
      </p:pic>
      <p:sp>
        <p:nvSpPr>
          <p:cNvPr id="301" name="Google Shape;301;p16"/>
          <p:cNvSpPr txBox="1"/>
          <p:nvPr/>
        </p:nvSpPr>
        <p:spPr>
          <a:xfrm>
            <a:off x="6000750" y="3709825"/>
            <a:ext cx="2941200" cy="12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Problème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37 billets sur 1500 ont une marge basse qui est inconnue</a:t>
            </a:r>
            <a:endParaRPr sz="1300">
              <a:solidFill>
                <a:schemeClr val="dk2"/>
              </a:solidFill>
              <a:latin typeface="Nunito"/>
              <a:ea typeface="Nunito"/>
              <a:cs typeface="Nunito"/>
              <a:sym typeface="Nunito"/>
            </a:endParaRPr>
          </a:p>
        </p:txBody>
      </p:sp>
      <p:sp>
        <p:nvSpPr>
          <p:cNvPr id="302" name="Google Shape;302;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type="title"/>
          </p:nvPr>
        </p:nvSpPr>
        <p:spPr>
          <a:xfrm>
            <a:off x="1303800" y="59118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Distribution des variables par rapport à la variable cible</a:t>
            </a:r>
            <a:endParaRPr/>
          </a:p>
        </p:txBody>
      </p:sp>
      <p:pic>
        <p:nvPicPr>
          <p:cNvPr id="308" name="Google Shape;308;p17"/>
          <p:cNvPicPr preferRelativeResize="0"/>
          <p:nvPr/>
        </p:nvPicPr>
        <p:blipFill>
          <a:blip r:embed="rId3">
            <a:alphaModFix/>
          </a:blip>
          <a:stretch>
            <a:fillRect/>
          </a:stretch>
        </p:blipFill>
        <p:spPr>
          <a:xfrm>
            <a:off x="962875" y="1504975"/>
            <a:ext cx="3904750" cy="3638524"/>
          </a:xfrm>
          <a:prstGeom prst="rect">
            <a:avLst/>
          </a:prstGeom>
          <a:noFill/>
          <a:ln>
            <a:noFill/>
          </a:ln>
        </p:spPr>
      </p:pic>
      <p:sp>
        <p:nvSpPr>
          <p:cNvPr id="309" name="Google Shape;309;p17"/>
          <p:cNvSpPr txBox="1"/>
          <p:nvPr/>
        </p:nvSpPr>
        <p:spPr>
          <a:xfrm>
            <a:off x="284100" y="2120950"/>
            <a:ext cx="10197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Hauteur gauche</a:t>
            </a:r>
            <a:endParaRPr sz="1300">
              <a:solidFill>
                <a:schemeClr val="dk2"/>
              </a:solidFill>
              <a:latin typeface="Nunito"/>
              <a:ea typeface="Nunito"/>
              <a:cs typeface="Nunito"/>
              <a:sym typeface="Nunito"/>
            </a:endParaRPr>
          </a:p>
        </p:txBody>
      </p:sp>
      <p:sp>
        <p:nvSpPr>
          <p:cNvPr id="310" name="Google Shape;310;p17"/>
          <p:cNvSpPr txBox="1"/>
          <p:nvPr/>
        </p:nvSpPr>
        <p:spPr>
          <a:xfrm>
            <a:off x="296088" y="2672415"/>
            <a:ext cx="10197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Hauteur droite</a:t>
            </a:r>
            <a:endParaRPr sz="1300">
              <a:solidFill>
                <a:schemeClr val="dk2"/>
              </a:solidFill>
              <a:latin typeface="Nunito"/>
              <a:ea typeface="Nunito"/>
              <a:cs typeface="Nunito"/>
              <a:sym typeface="Nunito"/>
            </a:endParaRPr>
          </a:p>
        </p:txBody>
      </p:sp>
      <p:sp>
        <p:nvSpPr>
          <p:cNvPr id="311" name="Google Shape;311;p17"/>
          <p:cNvSpPr txBox="1"/>
          <p:nvPr/>
        </p:nvSpPr>
        <p:spPr>
          <a:xfrm>
            <a:off x="308077" y="3201709"/>
            <a:ext cx="10197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Marge haute</a:t>
            </a:r>
            <a:endParaRPr sz="1300">
              <a:solidFill>
                <a:schemeClr val="dk2"/>
              </a:solidFill>
              <a:latin typeface="Nunito"/>
              <a:ea typeface="Nunito"/>
              <a:cs typeface="Nunito"/>
              <a:sym typeface="Nunito"/>
            </a:endParaRPr>
          </a:p>
        </p:txBody>
      </p:sp>
      <p:sp>
        <p:nvSpPr>
          <p:cNvPr id="312" name="Google Shape;312;p17"/>
          <p:cNvSpPr txBox="1"/>
          <p:nvPr/>
        </p:nvSpPr>
        <p:spPr>
          <a:xfrm>
            <a:off x="312675" y="3952706"/>
            <a:ext cx="10197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Longueur</a:t>
            </a:r>
            <a:endParaRPr sz="1300">
              <a:solidFill>
                <a:schemeClr val="dk2"/>
              </a:solidFill>
              <a:latin typeface="Nunito"/>
              <a:ea typeface="Nunito"/>
              <a:cs typeface="Nunito"/>
              <a:sym typeface="Nunito"/>
            </a:endParaRPr>
          </a:p>
        </p:txBody>
      </p:sp>
      <p:sp>
        <p:nvSpPr>
          <p:cNvPr id="313" name="Google Shape;313;p17"/>
          <p:cNvSpPr txBox="1"/>
          <p:nvPr/>
        </p:nvSpPr>
        <p:spPr>
          <a:xfrm>
            <a:off x="339460" y="4400734"/>
            <a:ext cx="10197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Marge basse</a:t>
            </a:r>
            <a:endParaRPr sz="1300">
              <a:solidFill>
                <a:schemeClr val="dk2"/>
              </a:solidFill>
              <a:latin typeface="Nunito"/>
              <a:ea typeface="Nunito"/>
              <a:cs typeface="Nunito"/>
              <a:sym typeface="Nunito"/>
            </a:endParaRPr>
          </a:p>
        </p:txBody>
      </p:sp>
      <p:sp>
        <p:nvSpPr>
          <p:cNvPr id="314" name="Google Shape;314;p17"/>
          <p:cNvSpPr txBox="1"/>
          <p:nvPr/>
        </p:nvSpPr>
        <p:spPr>
          <a:xfrm>
            <a:off x="5047425" y="2017500"/>
            <a:ext cx="3451200" cy="2793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Nunito"/>
              <a:buChar char="-"/>
            </a:pPr>
            <a:r>
              <a:rPr lang="fr" sz="1300">
                <a:solidFill>
                  <a:schemeClr val="dk2"/>
                </a:solidFill>
                <a:latin typeface="Nunito"/>
                <a:ea typeface="Nunito"/>
                <a:cs typeface="Nunito"/>
                <a:sym typeface="Nunito"/>
              </a:rPr>
              <a:t>Longueur, marge basse et marge haute sont d’excellent </a:t>
            </a:r>
            <a:r>
              <a:rPr lang="fr" sz="1300">
                <a:solidFill>
                  <a:schemeClr val="dk2"/>
                </a:solidFill>
                <a:latin typeface="Nunito"/>
                <a:ea typeface="Nunito"/>
                <a:cs typeface="Nunito"/>
                <a:sym typeface="Nunito"/>
              </a:rPr>
              <a:t>prédicteur</a:t>
            </a:r>
            <a:r>
              <a:rPr lang="fr" sz="1300">
                <a:solidFill>
                  <a:schemeClr val="dk2"/>
                </a:solidFill>
                <a:latin typeface="Nunito"/>
                <a:ea typeface="Nunito"/>
                <a:cs typeface="Nunito"/>
                <a:sym typeface="Nunito"/>
              </a:rPr>
              <a:t> de la variable cible = “est authentique”</a:t>
            </a:r>
            <a:endParaRPr sz="1300">
              <a:solidFill>
                <a:schemeClr val="dk2"/>
              </a:solidFill>
              <a:latin typeface="Nunito"/>
              <a:ea typeface="Nunito"/>
              <a:cs typeface="Nunito"/>
              <a:sym typeface="Nunito"/>
            </a:endParaRPr>
          </a:p>
          <a:p>
            <a:pPr indent="0" lvl="0" marL="457200" rtl="0" algn="l">
              <a:spcBef>
                <a:spcPts val="0"/>
              </a:spcBef>
              <a:spcAft>
                <a:spcPts val="0"/>
              </a:spcAft>
              <a:buNone/>
            </a:pPr>
            <a:r>
              <a:t/>
            </a:r>
            <a:endParaRPr sz="1300">
              <a:solidFill>
                <a:schemeClr val="dk2"/>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rPr lang="fr" sz="1300">
                <a:solidFill>
                  <a:schemeClr val="dk2"/>
                </a:solidFill>
                <a:latin typeface="Nunito"/>
                <a:ea typeface="Nunito"/>
                <a:cs typeface="Nunito"/>
                <a:sym typeface="Nunito"/>
              </a:rPr>
              <a:t>On remarque que les points sont bien séparés, les variables suivent une distribution normales (les valeurs sont répartie autour de la moyenne)</a:t>
            </a:r>
            <a:endParaRPr sz="1300">
              <a:solidFill>
                <a:schemeClr val="dk2"/>
              </a:solidFill>
              <a:latin typeface="Nunito"/>
              <a:ea typeface="Nunito"/>
              <a:cs typeface="Nunito"/>
              <a:sym typeface="Nunito"/>
            </a:endParaRPr>
          </a:p>
          <a:p>
            <a:pPr indent="0" lvl="0" marL="457200" rtl="0" algn="l">
              <a:spcBef>
                <a:spcPts val="0"/>
              </a:spcBef>
              <a:spcAft>
                <a:spcPts val="0"/>
              </a:spcAft>
              <a:buNone/>
            </a:pPr>
            <a:r>
              <a:t/>
            </a:r>
            <a:endParaRPr sz="1300">
              <a:solidFill>
                <a:schemeClr val="dk2"/>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rPr lang="fr" sz="1300">
                <a:solidFill>
                  <a:schemeClr val="dk2"/>
                </a:solidFill>
                <a:latin typeface="Nunito"/>
                <a:ea typeface="Nunito"/>
                <a:cs typeface="Nunito"/>
                <a:sym typeface="Nunito"/>
              </a:rPr>
              <a:t>Pas de valeur </a:t>
            </a:r>
            <a:r>
              <a:rPr lang="fr" sz="1300">
                <a:solidFill>
                  <a:schemeClr val="dk2"/>
                </a:solidFill>
                <a:latin typeface="Nunito"/>
                <a:ea typeface="Nunito"/>
                <a:cs typeface="Nunito"/>
                <a:sym typeface="Nunito"/>
              </a:rPr>
              <a:t>aberrante</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15" name="Google Shape;315;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8"/>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Colinéarité des variables</a:t>
            </a:r>
            <a:endParaRPr/>
          </a:p>
        </p:txBody>
      </p:sp>
      <p:sp>
        <p:nvSpPr>
          <p:cNvPr id="321" name="Google Shape;321;p18"/>
          <p:cNvSpPr txBox="1"/>
          <p:nvPr/>
        </p:nvSpPr>
        <p:spPr>
          <a:xfrm>
            <a:off x="4670525" y="1590475"/>
            <a:ext cx="3828000" cy="32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La colinéarité (ou multicolinéarité) est la forte corrélation entre deux ou plusieurs variables explicatives. Dans un modèle de régression linéaire, elle est problématique car elle crée une redondance qui empêche le modèle de fonctionner correctement.</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 modèle ne peut pas déterminer la contribution unique de chaque variable colinéaire et répartit l'effet de manière arbitraire ce qui fausse les résultats.</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On </a:t>
            </a:r>
            <a:r>
              <a:rPr b="1" lang="fr" sz="1300">
                <a:solidFill>
                  <a:schemeClr val="dk2"/>
                </a:solidFill>
                <a:latin typeface="Nunito"/>
                <a:ea typeface="Nunito"/>
                <a:cs typeface="Nunito"/>
                <a:sym typeface="Nunito"/>
              </a:rPr>
              <a:t>considère</a:t>
            </a:r>
            <a:r>
              <a:rPr b="1" lang="fr" sz="1300">
                <a:solidFill>
                  <a:schemeClr val="dk2"/>
                </a:solidFill>
                <a:latin typeface="Nunito"/>
                <a:ea typeface="Nunito"/>
                <a:cs typeface="Nunito"/>
                <a:sym typeface="Nunito"/>
              </a:rPr>
              <a:t> qu’en dessous de 0,8/ -0,8 il n’y a pas de colinéarité </a:t>
            </a:r>
            <a:r>
              <a:rPr b="1" lang="fr" sz="1300">
                <a:solidFill>
                  <a:schemeClr val="dk2"/>
                </a:solidFill>
                <a:latin typeface="Nunito"/>
                <a:ea typeface="Nunito"/>
                <a:cs typeface="Nunito"/>
                <a:sym typeface="Nunito"/>
              </a:rPr>
              <a:t>suffisamment</a:t>
            </a:r>
            <a:r>
              <a:rPr b="1" lang="fr" sz="1300">
                <a:solidFill>
                  <a:schemeClr val="dk2"/>
                </a:solidFill>
                <a:latin typeface="Nunito"/>
                <a:ea typeface="Nunito"/>
                <a:cs typeface="Nunito"/>
                <a:sym typeface="Nunito"/>
              </a:rPr>
              <a:t> forte entre les variables</a:t>
            </a:r>
            <a:endParaRPr b="1" sz="1300">
              <a:solidFill>
                <a:schemeClr val="dk2"/>
              </a:solidFill>
              <a:latin typeface="Nunito"/>
              <a:ea typeface="Nunito"/>
              <a:cs typeface="Nunito"/>
              <a:sym typeface="Nunito"/>
            </a:endParaRPr>
          </a:p>
        </p:txBody>
      </p:sp>
      <p:pic>
        <p:nvPicPr>
          <p:cNvPr id="322" name="Google Shape;322;p18"/>
          <p:cNvPicPr preferRelativeResize="0"/>
          <p:nvPr/>
        </p:nvPicPr>
        <p:blipFill rotWithShape="1">
          <a:blip r:embed="rId3">
            <a:alphaModFix/>
          </a:blip>
          <a:srcRect b="1874" l="0" r="1729" t="0"/>
          <a:stretch/>
        </p:blipFill>
        <p:spPr>
          <a:xfrm>
            <a:off x="0" y="1590475"/>
            <a:ext cx="4119629" cy="3553025"/>
          </a:xfrm>
          <a:prstGeom prst="rect">
            <a:avLst/>
          </a:prstGeom>
          <a:noFill/>
          <a:ln>
            <a:noFill/>
          </a:ln>
        </p:spPr>
      </p:pic>
      <p:sp>
        <p:nvSpPr>
          <p:cNvPr id="323" name="Google Shape;323;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9"/>
          <p:cNvSpPr txBox="1"/>
          <p:nvPr>
            <p:ph type="title"/>
          </p:nvPr>
        </p:nvSpPr>
        <p:spPr>
          <a:xfrm>
            <a:off x="824000" y="1613825"/>
            <a:ext cx="78372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fr"/>
              <a:t>2éme Partie </a:t>
            </a:r>
            <a:endParaRPr/>
          </a:p>
          <a:p>
            <a:pPr indent="0" lvl="0" marL="0" rtl="0" algn="l">
              <a:spcBef>
                <a:spcPts val="0"/>
              </a:spcBef>
              <a:spcAft>
                <a:spcPts val="0"/>
              </a:spcAft>
              <a:buNone/>
            </a:pPr>
            <a:r>
              <a:rPr lang="fr"/>
              <a:t>Imputation des valeurs manquantes avec la régression linéaire</a:t>
            </a:r>
            <a:endParaRPr/>
          </a:p>
        </p:txBody>
      </p:sp>
      <p:sp>
        <p:nvSpPr>
          <p:cNvPr id="329" name="Google Shape;329;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0"/>
          <p:cNvSpPr/>
          <p:nvPr/>
        </p:nvSpPr>
        <p:spPr>
          <a:xfrm>
            <a:off x="174570" y="2527400"/>
            <a:ext cx="4648500" cy="1877700"/>
          </a:xfrm>
          <a:prstGeom prst="rightArrowCallout">
            <a:avLst>
              <a:gd fmla="val 25000" name="adj1"/>
              <a:gd fmla="val 25000" name="adj2"/>
              <a:gd fmla="val 25000" name="adj3"/>
              <a:gd fmla="val 87915" name="adj4"/>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35" name="Google Shape;335;p20"/>
          <p:cNvSpPr txBox="1"/>
          <p:nvPr/>
        </p:nvSpPr>
        <p:spPr>
          <a:xfrm>
            <a:off x="137620" y="2533575"/>
            <a:ext cx="4057200" cy="1553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fr" sz="1300">
                <a:solidFill>
                  <a:schemeClr val="dk2"/>
                </a:solidFill>
                <a:latin typeface="Nunito"/>
                <a:ea typeface="Nunito"/>
                <a:cs typeface="Nunito"/>
                <a:sym typeface="Nunito"/>
              </a:rPr>
              <a:t>🧩 </a:t>
            </a:r>
            <a:r>
              <a:rPr b="1" lang="fr" sz="1300" u="sng">
                <a:solidFill>
                  <a:schemeClr val="dk2"/>
                </a:solidFill>
                <a:latin typeface="Nunito"/>
                <a:ea typeface="Nunito"/>
                <a:cs typeface="Nunito"/>
                <a:sym typeface="Nunito"/>
              </a:rPr>
              <a:t>Préparation des données :</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Séparation du dataset en deux parties :</a:t>
            </a:r>
            <a:endParaRPr sz="1300">
              <a:solidFill>
                <a:schemeClr val="dk2"/>
              </a:solidFill>
              <a:latin typeface="Nunito"/>
              <a:ea typeface="Nunito"/>
              <a:cs typeface="Nunito"/>
              <a:sym typeface="Nunito"/>
            </a:endParaRPr>
          </a:p>
          <a:p>
            <a:pPr indent="-311150" lvl="0" marL="457200" rtl="0" algn="just">
              <a:spcBef>
                <a:spcPts val="0"/>
              </a:spcBef>
              <a:spcAft>
                <a:spcPts val="0"/>
              </a:spcAft>
              <a:buClr>
                <a:schemeClr val="dk2"/>
              </a:buClr>
              <a:buSzPts val="1300"/>
              <a:buFont typeface="Nunito"/>
              <a:buChar char="-"/>
            </a:pPr>
            <a:r>
              <a:rPr lang="fr" sz="1300">
                <a:solidFill>
                  <a:schemeClr val="dk2"/>
                </a:solidFill>
                <a:latin typeface="Nunito"/>
                <a:ea typeface="Nunito"/>
                <a:cs typeface="Nunito"/>
                <a:sym typeface="Nunito"/>
              </a:rPr>
              <a:t>Une avec les valeurs connues de la variable margin_low</a:t>
            </a:r>
            <a:endParaRPr sz="1300">
              <a:solidFill>
                <a:schemeClr val="dk2"/>
              </a:solidFill>
              <a:latin typeface="Nunito"/>
              <a:ea typeface="Nunito"/>
              <a:cs typeface="Nunito"/>
              <a:sym typeface="Nunito"/>
            </a:endParaRPr>
          </a:p>
          <a:p>
            <a:pPr indent="-311150" lvl="0" marL="457200" rtl="0" algn="just">
              <a:spcBef>
                <a:spcPts val="0"/>
              </a:spcBef>
              <a:spcAft>
                <a:spcPts val="0"/>
              </a:spcAft>
              <a:buClr>
                <a:schemeClr val="dk2"/>
              </a:buClr>
              <a:buSzPts val="1300"/>
              <a:buFont typeface="Nunito"/>
              <a:buChar char="-"/>
            </a:pPr>
            <a:r>
              <a:rPr lang="fr" sz="1300">
                <a:solidFill>
                  <a:schemeClr val="dk2"/>
                </a:solidFill>
                <a:latin typeface="Nunito"/>
                <a:ea typeface="Nunito"/>
                <a:cs typeface="Nunito"/>
                <a:sym typeface="Nunito"/>
              </a:rPr>
              <a:t>Une autre avec les valeurs manquantes</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Les 5 autres variables (diagonal, height_left, height_right, margin_up, length) servent de prédicteurs.</a:t>
            </a:r>
            <a:endParaRPr sz="1300">
              <a:solidFill>
                <a:schemeClr val="dk2"/>
              </a:solidFill>
              <a:latin typeface="Nunito"/>
              <a:ea typeface="Nunito"/>
              <a:cs typeface="Nunito"/>
              <a:sym typeface="Nunito"/>
            </a:endParaRPr>
          </a:p>
          <a:p>
            <a:pPr indent="0" lvl="0" marL="0" rtl="0" algn="just">
              <a:spcBef>
                <a:spcPts val="0"/>
              </a:spcBef>
              <a:spcAft>
                <a:spcPts val="0"/>
              </a:spcAft>
              <a:buNone/>
            </a:pPr>
            <a:r>
              <a:t/>
            </a:r>
            <a:endParaRPr sz="1300">
              <a:solidFill>
                <a:schemeClr val="dk2"/>
              </a:solidFill>
              <a:latin typeface="Nunito"/>
              <a:ea typeface="Nunito"/>
              <a:cs typeface="Nunito"/>
              <a:sym typeface="Nunito"/>
            </a:endParaRPr>
          </a:p>
          <a:p>
            <a:pPr indent="0" lvl="0" marL="0" rtl="0" algn="just">
              <a:spcBef>
                <a:spcPts val="0"/>
              </a:spcBef>
              <a:spcAft>
                <a:spcPts val="0"/>
              </a:spcAft>
              <a:buNone/>
            </a:pPr>
            <a:r>
              <a:t/>
            </a:r>
            <a:endParaRPr sz="1300">
              <a:solidFill>
                <a:schemeClr val="dk2"/>
              </a:solidFill>
              <a:latin typeface="Nunito"/>
              <a:ea typeface="Nunito"/>
              <a:cs typeface="Nunito"/>
              <a:sym typeface="Nunito"/>
            </a:endParaRPr>
          </a:p>
          <a:p>
            <a:pPr indent="0" lvl="0" marL="0" rtl="0" algn="just">
              <a:spcBef>
                <a:spcPts val="0"/>
              </a:spcBef>
              <a:spcAft>
                <a:spcPts val="0"/>
              </a:spcAft>
              <a:buNone/>
            </a:pPr>
            <a:r>
              <a:t/>
            </a:r>
            <a:endParaRPr sz="1300">
              <a:solidFill>
                <a:schemeClr val="dk2"/>
              </a:solidFill>
              <a:latin typeface="Nunito"/>
              <a:ea typeface="Nunito"/>
              <a:cs typeface="Nunito"/>
              <a:sym typeface="Nunito"/>
            </a:endParaRPr>
          </a:p>
        </p:txBody>
      </p:sp>
      <p:sp>
        <p:nvSpPr>
          <p:cNvPr id="336" name="Google Shape;336;p20"/>
          <p:cNvSpPr txBox="1"/>
          <p:nvPr>
            <p:ph type="title"/>
          </p:nvPr>
        </p:nvSpPr>
        <p:spPr>
          <a:xfrm>
            <a:off x="1303800" y="59118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Imputation des valeurs manquantes avec la régression linéaire</a:t>
            </a:r>
            <a:endParaRPr/>
          </a:p>
        </p:txBody>
      </p:sp>
      <p:sp>
        <p:nvSpPr>
          <p:cNvPr id="337" name="Google Shape;337;p20"/>
          <p:cNvSpPr txBox="1"/>
          <p:nvPr/>
        </p:nvSpPr>
        <p:spPr>
          <a:xfrm>
            <a:off x="110850" y="1509184"/>
            <a:ext cx="8964300" cy="8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a:t>
            </a:r>
            <a:r>
              <a:rPr b="1" lang="fr" sz="1300" u="sng">
                <a:solidFill>
                  <a:schemeClr val="dk2"/>
                </a:solidFill>
                <a:latin typeface="Nunito"/>
                <a:ea typeface="Nunito"/>
                <a:cs typeface="Nunito"/>
                <a:sym typeface="Nunito"/>
              </a:rPr>
              <a:t>Définition </a:t>
            </a:r>
            <a:r>
              <a:rPr lang="fr" sz="1300">
                <a:solidFill>
                  <a:schemeClr val="dk2"/>
                </a:solidFill>
                <a:latin typeface="Nunito"/>
                <a:ea typeface="Nunito"/>
                <a:cs typeface="Nunito"/>
                <a:sym typeface="Nunito"/>
              </a:rPr>
              <a:t>: La régression linéaire est un algorithme qui cherche à modéliser une relation linéaire entre une variable cible et plusieurs variables explicatives.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Exemple : prédire le prix d’une maison à partir de sa surface et de son âge.</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38" name="Google Shape;338;p20"/>
          <p:cNvSpPr/>
          <p:nvPr/>
        </p:nvSpPr>
        <p:spPr>
          <a:xfrm>
            <a:off x="4872359" y="2357425"/>
            <a:ext cx="4138500" cy="22326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39" name="Google Shape;339;p20"/>
          <p:cNvSpPr txBox="1"/>
          <p:nvPr/>
        </p:nvSpPr>
        <p:spPr>
          <a:xfrm>
            <a:off x="4901934" y="2298300"/>
            <a:ext cx="3864900" cy="218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fr" sz="1300" u="sng">
                <a:solidFill>
                  <a:schemeClr val="dk2"/>
                </a:solidFill>
                <a:latin typeface="Nunito"/>
                <a:ea typeface="Nunito"/>
                <a:cs typeface="Nunito"/>
                <a:sym typeface="Nunito"/>
              </a:rPr>
              <a:t>🛠️Construction des ensembles </a:t>
            </a:r>
            <a:r>
              <a:rPr lang="fr" sz="1300">
                <a:solidFill>
                  <a:schemeClr val="dk2"/>
                </a:solidFill>
                <a:latin typeface="Nunito"/>
                <a:ea typeface="Nunito"/>
                <a:cs typeface="Nunito"/>
                <a:sym typeface="Nunito"/>
              </a:rPr>
              <a:t>:</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X_known → variables explicatives avec toutes les valeurs disponibles</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y_known → variable cible (margin_low)</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X_missing → observations sans margin_low (à prédire ensuite)</a:t>
            </a:r>
            <a:endParaRPr sz="1300">
              <a:solidFill>
                <a:schemeClr val="dk2"/>
              </a:solidFill>
              <a:latin typeface="Nunito"/>
              <a:ea typeface="Nunito"/>
              <a:cs typeface="Nunito"/>
              <a:sym typeface="Nunito"/>
            </a:endParaRPr>
          </a:p>
          <a:p>
            <a:pPr indent="0" lvl="0" marL="0" rtl="0" algn="just">
              <a:spcBef>
                <a:spcPts val="0"/>
              </a:spcBef>
              <a:spcAft>
                <a:spcPts val="0"/>
              </a:spcAft>
              <a:buNone/>
            </a:pPr>
            <a:r>
              <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b="1" lang="fr" sz="1300" u="sng">
                <a:solidFill>
                  <a:schemeClr val="dk2"/>
                </a:solidFill>
                <a:latin typeface="Nunito"/>
                <a:ea typeface="Nunito"/>
                <a:cs typeface="Nunito"/>
                <a:sym typeface="Nunito"/>
              </a:rPr>
              <a:t>🏋️‍♂️ Entraînement et évaluation :</a:t>
            </a:r>
            <a:endParaRPr b="1" sz="1300" u="sng">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Séparation en deux sous-ensembles :</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80 % pour l’entraînement (X_train, y_train)</a:t>
            </a:r>
            <a:endParaRPr sz="1300">
              <a:solidFill>
                <a:schemeClr val="dk2"/>
              </a:solidFill>
              <a:latin typeface="Nunito"/>
              <a:ea typeface="Nunito"/>
              <a:cs typeface="Nunito"/>
              <a:sym typeface="Nunito"/>
            </a:endParaRPr>
          </a:p>
          <a:p>
            <a:pPr indent="0" lvl="0" marL="0" rtl="0" algn="just">
              <a:spcBef>
                <a:spcPts val="0"/>
              </a:spcBef>
              <a:spcAft>
                <a:spcPts val="0"/>
              </a:spcAft>
              <a:buNone/>
            </a:pPr>
            <a:r>
              <a:rPr lang="fr" sz="1300">
                <a:solidFill>
                  <a:schemeClr val="dk2"/>
                </a:solidFill>
                <a:latin typeface="Nunito"/>
                <a:ea typeface="Nunito"/>
                <a:cs typeface="Nunito"/>
                <a:sym typeface="Nunito"/>
              </a:rPr>
              <a:t>20 % pour le test (X_test, y_test)</a:t>
            </a:r>
            <a:endParaRPr sz="1300">
              <a:solidFill>
                <a:schemeClr val="dk2"/>
              </a:solidFill>
              <a:latin typeface="Nunito"/>
              <a:ea typeface="Nunito"/>
              <a:cs typeface="Nunito"/>
              <a:sym typeface="Nunito"/>
            </a:endParaRPr>
          </a:p>
          <a:p>
            <a:pPr indent="0" lvl="0" marL="0" rtl="0" algn="just">
              <a:spcBef>
                <a:spcPts val="0"/>
              </a:spcBef>
              <a:spcAft>
                <a:spcPts val="0"/>
              </a:spcAft>
              <a:buNone/>
            </a:pPr>
            <a:r>
              <a:t/>
            </a:r>
            <a:endParaRPr sz="1300">
              <a:solidFill>
                <a:schemeClr val="dk2"/>
              </a:solidFill>
              <a:latin typeface="Nunito"/>
              <a:ea typeface="Nunito"/>
              <a:cs typeface="Nunito"/>
              <a:sym typeface="Nunito"/>
            </a:endParaRPr>
          </a:p>
        </p:txBody>
      </p:sp>
      <p:sp>
        <p:nvSpPr>
          <p:cNvPr id="340" name="Google Shape;340;p20"/>
          <p:cNvSpPr/>
          <p:nvPr/>
        </p:nvSpPr>
        <p:spPr>
          <a:xfrm>
            <a:off x="174575" y="4633575"/>
            <a:ext cx="8836200" cy="5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41" name="Google Shape;341;p20"/>
          <p:cNvSpPr txBox="1"/>
          <p:nvPr/>
        </p:nvSpPr>
        <p:spPr>
          <a:xfrm>
            <a:off x="214300" y="4620075"/>
            <a:ext cx="88533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 Le modèle apprend sur les données d’entraînement et est évalué sur des données jamais vues, afin de vérifier sa capacité de généralisation.</a:t>
            </a:r>
            <a:endParaRPr sz="1300">
              <a:solidFill>
                <a:schemeClr val="dk2"/>
              </a:solidFill>
              <a:latin typeface="Nunito"/>
              <a:ea typeface="Nunito"/>
              <a:cs typeface="Nunito"/>
              <a:sym typeface="Nunito"/>
            </a:endParaRPr>
          </a:p>
        </p:txBody>
      </p:sp>
      <p:sp>
        <p:nvSpPr>
          <p:cNvPr id="342" name="Google Shape;342;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1"/>
          <p:cNvSpPr txBox="1"/>
          <p:nvPr>
            <p:ph type="title"/>
          </p:nvPr>
        </p:nvSpPr>
        <p:spPr>
          <a:xfrm>
            <a:off x="1303800" y="59118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Évaluation du modèle de Régression Linéaire</a:t>
            </a:r>
            <a:endParaRPr/>
          </a:p>
        </p:txBody>
      </p:sp>
      <p:sp>
        <p:nvSpPr>
          <p:cNvPr id="348" name="Google Shape;348;p21"/>
          <p:cNvSpPr txBox="1"/>
          <p:nvPr/>
        </p:nvSpPr>
        <p:spPr>
          <a:xfrm>
            <a:off x="206925" y="1590475"/>
            <a:ext cx="8779500" cy="318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R² = 0.546 → Score modéré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Les variables explicatives (diagonale, hauteur, longueur, etc.) expliquent un peu plus de la moitié de la variation de margin_low.</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Le modèle est utile mais d’autres facteurs non inclus influencent encore la variable.</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RMSE = 0.191 et MAE = 0.335 → Erreurs de prédiction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Ces valeurs sont raisonnables par rapport à la plage de margin_low (≈ 3 à 7).</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L’erreur moyenne (~0.33) reste faible comparée à l’écart-type (0.66).</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RMSE &gt; MAE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Normal, car la RMSE pénalise davantage les grosses erreurs → cela indique quelques prédictions moins précises, mais globalement stables.</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Conclusion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 modèle de régression linéaire est fiable et pertinent pour imputer les valeurs manquantes.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Un R² de 0.546 montre que les caractéristiques physiques des billets (longueur, hauteur, marges…) sont significativement liées à la variable margin_low.</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49" name="Google Shape;349;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2"/>
          <p:cNvSpPr txBox="1"/>
          <p:nvPr>
            <p:ph type="title"/>
          </p:nvPr>
        </p:nvSpPr>
        <p:spPr>
          <a:xfrm>
            <a:off x="1303800" y="59118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Hypothèse à vérifier : </a:t>
            </a:r>
            <a:r>
              <a:rPr lang="fr"/>
              <a:t>Homoscédasticité</a:t>
            </a:r>
            <a:r>
              <a:rPr lang="fr"/>
              <a:t> et normalité des résidus</a:t>
            </a:r>
            <a:endParaRPr/>
          </a:p>
        </p:txBody>
      </p:sp>
      <p:sp>
        <p:nvSpPr>
          <p:cNvPr id="355" name="Google Shape;355;p22"/>
          <p:cNvSpPr txBox="1"/>
          <p:nvPr/>
        </p:nvSpPr>
        <p:spPr>
          <a:xfrm>
            <a:off x="4973525" y="3608025"/>
            <a:ext cx="3525000" cy="11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56" name="Google Shape;356;p22"/>
          <p:cNvPicPr preferRelativeResize="0"/>
          <p:nvPr/>
        </p:nvPicPr>
        <p:blipFill>
          <a:blip r:embed="rId3">
            <a:alphaModFix/>
          </a:blip>
          <a:stretch>
            <a:fillRect/>
          </a:stretch>
        </p:blipFill>
        <p:spPr>
          <a:xfrm>
            <a:off x="369500" y="1471137"/>
            <a:ext cx="2859949" cy="2201226"/>
          </a:xfrm>
          <a:prstGeom prst="rect">
            <a:avLst/>
          </a:prstGeom>
          <a:noFill/>
          <a:ln>
            <a:noFill/>
          </a:ln>
        </p:spPr>
      </p:pic>
      <p:sp>
        <p:nvSpPr>
          <p:cNvPr id="357" name="Google Shape;357;p22"/>
          <p:cNvSpPr txBox="1"/>
          <p:nvPr/>
        </p:nvSpPr>
        <p:spPr>
          <a:xfrm>
            <a:off x="0" y="3608025"/>
            <a:ext cx="44046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Les résidus sont globalement centrés autour de 0, avec une dispersion stable pour l’ensemble des valeurs prédites. Malgré un léger effet de regroupement, aucune forme de cône n’apparaît : </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l’hypothèse d’homoscédasticité est donc respectée.  </a:t>
            </a:r>
            <a:endParaRPr b="1"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les erreurs sont constantes quelque soit la valeur de x (valeurs prédites)</a:t>
            </a:r>
            <a:endParaRPr sz="1300">
              <a:solidFill>
                <a:schemeClr val="dk2"/>
              </a:solidFill>
              <a:latin typeface="Nunito"/>
              <a:ea typeface="Nunito"/>
              <a:cs typeface="Nunito"/>
              <a:sym typeface="Nunito"/>
            </a:endParaRPr>
          </a:p>
        </p:txBody>
      </p:sp>
      <p:pic>
        <p:nvPicPr>
          <p:cNvPr id="358" name="Google Shape;358;p22"/>
          <p:cNvPicPr preferRelativeResize="0"/>
          <p:nvPr/>
        </p:nvPicPr>
        <p:blipFill>
          <a:blip r:embed="rId4">
            <a:alphaModFix/>
          </a:blip>
          <a:stretch>
            <a:fillRect/>
          </a:stretch>
        </p:blipFill>
        <p:spPr>
          <a:xfrm>
            <a:off x="5415300" y="1471125"/>
            <a:ext cx="2683805" cy="2136901"/>
          </a:xfrm>
          <a:prstGeom prst="rect">
            <a:avLst/>
          </a:prstGeom>
          <a:noFill/>
          <a:ln>
            <a:noFill/>
          </a:ln>
        </p:spPr>
      </p:pic>
      <p:sp>
        <p:nvSpPr>
          <p:cNvPr id="359" name="Google Shape;359;p22"/>
          <p:cNvSpPr txBox="1"/>
          <p:nvPr/>
        </p:nvSpPr>
        <p:spPr>
          <a:xfrm>
            <a:off x="4973525" y="3608025"/>
            <a:ext cx="41706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p_value &gt; 0,05</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 test de Shapiro rejette la normalité stricte (du fait de sa sensibilité), mais les résidus apparaissent visuellement proches d’une loi normale, symétriques, centrés et sans schéma particulier. </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Cette approximation est donc acceptable pour la régression.</a:t>
            </a:r>
            <a:endParaRPr b="1" sz="1300">
              <a:solidFill>
                <a:schemeClr val="dk2"/>
              </a:solidFill>
              <a:latin typeface="Nunito"/>
              <a:ea typeface="Nunito"/>
              <a:cs typeface="Nunito"/>
              <a:sym typeface="Nunito"/>
            </a:endParaRPr>
          </a:p>
        </p:txBody>
      </p:sp>
      <p:sp>
        <p:nvSpPr>
          <p:cNvPr id="360" name="Google Shape;360;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fr"/>
              <a:t>3éme partie</a:t>
            </a:r>
            <a:endParaRPr/>
          </a:p>
          <a:p>
            <a:pPr indent="0" lvl="0" marL="0" rtl="0" algn="l">
              <a:spcBef>
                <a:spcPts val="0"/>
              </a:spcBef>
              <a:spcAft>
                <a:spcPts val="0"/>
              </a:spcAft>
              <a:buNone/>
            </a:pPr>
            <a:r>
              <a:rPr lang="fr"/>
              <a:t>Algorithmes pour détecter les faux billets</a:t>
            </a:r>
            <a:endParaRPr/>
          </a:p>
        </p:txBody>
      </p:sp>
      <p:sp>
        <p:nvSpPr>
          <p:cNvPr id="366" name="Google Shape;366;p23"/>
          <p:cNvSpPr txBox="1"/>
          <p:nvPr/>
        </p:nvSpPr>
        <p:spPr>
          <a:xfrm>
            <a:off x="4973525" y="3608025"/>
            <a:ext cx="3525000" cy="11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67" name="Google Shape;367;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4"/>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Régression logistique</a:t>
            </a:r>
            <a:endParaRPr/>
          </a:p>
        </p:txBody>
      </p:sp>
      <p:sp>
        <p:nvSpPr>
          <p:cNvPr id="373" name="Google Shape;373;p24"/>
          <p:cNvSpPr txBox="1"/>
          <p:nvPr/>
        </p:nvSpPr>
        <p:spPr>
          <a:xfrm>
            <a:off x="0" y="1501850"/>
            <a:ext cx="91440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Méthode statistique utilisée pour prédire la probabilité d’appartenance à une classe (souvent 0 ou 1) à partir d’un ensemble de variables explicatives.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Contrairement à la régression linéaire, qui prédit une valeur continue, la régression logistique prédit une probabilité comprise entre 0 et 1. (voir fontion sigmoïd)</a:t>
            </a:r>
            <a:endParaRPr sz="1300">
              <a:solidFill>
                <a:schemeClr val="dk2"/>
              </a:solidFill>
              <a:latin typeface="Nunito"/>
              <a:ea typeface="Nunito"/>
              <a:cs typeface="Nunito"/>
              <a:sym typeface="Nunito"/>
            </a:endParaRPr>
          </a:p>
        </p:txBody>
      </p:sp>
      <p:sp>
        <p:nvSpPr>
          <p:cNvPr id="374" name="Google Shape;374;p24"/>
          <p:cNvSpPr txBox="1"/>
          <p:nvPr/>
        </p:nvSpPr>
        <p:spPr>
          <a:xfrm>
            <a:off x="108075" y="3492425"/>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1er dataset X sans la valeur cible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2eme dataset y uniquement valeur cible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on découpe en train / test</a:t>
            </a:r>
            <a:endParaRPr sz="1300">
              <a:solidFill>
                <a:schemeClr val="dk2"/>
              </a:solidFill>
              <a:latin typeface="Nunito"/>
              <a:ea typeface="Nunito"/>
              <a:cs typeface="Nunito"/>
              <a:sym typeface="Nunito"/>
            </a:endParaRPr>
          </a:p>
        </p:txBody>
      </p:sp>
      <p:sp>
        <p:nvSpPr>
          <p:cNvPr id="375" name="Google Shape;375;p24"/>
          <p:cNvSpPr txBox="1"/>
          <p:nvPr/>
        </p:nvSpPr>
        <p:spPr>
          <a:xfrm>
            <a:off x="2270575" y="3556150"/>
            <a:ext cx="18162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Entrainement sur X_train et y_train avec la fonction logisticRegression</a:t>
            </a:r>
            <a:endParaRPr sz="1300">
              <a:solidFill>
                <a:schemeClr val="dk2"/>
              </a:solidFill>
              <a:latin typeface="Nunito"/>
              <a:ea typeface="Nunito"/>
              <a:cs typeface="Nunito"/>
              <a:sym typeface="Nunito"/>
            </a:endParaRPr>
          </a:p>
        </p:txBody>
      </p:sp>
      <p:sp>
        <p:nvSpPr>
          <p:cNvPr id="376" name="Google Shape;376;p24"/>
          <p:cNvSpPr txBox="1"/>
          <p:nvPr/>
        </p:nvSpPr>
        <p:spPr>
          <a:xfrm>
            <a:off x="4342675" y="3449900"/>
            <a:ext cx="18798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Dans le test on regarde dans x_test les proba d’appartenir ou non à la classe 1 (vrai billet)</a:t>
            </a:r>
            <a:endParaRPr sz="1300">
              <a:solidFill>
                <a:schemeClr val="dk2"/>
              </a:solidFill>
              <a:latin typeface="Nunito"/>
              <a:ea typeface="Nunito"/>
              <a:cs typeface="Nunito"/>
              <a:sym typeface="Nunito"/>
            </a:endParaRPr>
          </a:p>
        </p:txBody>
      </p:sp>
      <p:sp>
        <p:nvSpPr>
          <p:cNvPr id="377" name="Google Shape;377;p24"/>
          <p:cNvSpPr txBox="1"/>
          <p:nvPr/>
        </p:nvSpPr>
        <p:spPr>
          <a:xfrm>
            <a:off x="6414855" y="3449900"/>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On regarde plusieurs scores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Matrice de confusion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Précision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Rappel</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Courbe ROC-AUC</a:t>
            </a:r>
            <a:endParaRPr sz="1300">
              <a:solidFill>
                <a:schemeClr val="dk2"/>
              </a:solidFill>
              <a:latin typeface="Nunito"/>
              <a:ea typeface="Nunito"/>
              <a:cs typeface="Nunito"/>
              <a:sym typeface="Nunito"/>
            </a:endParaRPr>
          </a:p>
        </p:txBody>
      </p:sp>
      <p:sp>
        <p:nvSpPr>
          <p:cNvPr id="378" name="Google Shape;378;p24"/>
          <p:cNvSpPr/>
          <p:nvPr/>
        </p:nvSpPr>
        <p:spPr>
          <a:xfrm>
            <a:off x="214300" y="2808225"/>
            <a:ext cx="82728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79" name="Google Shape;379;p24"/>
          <p:cNvSpPr/>
          <p:nvPr/>
        </p:nvSpPr>
        <p:spPr>
          <a:xfrm>
            <a:off x="255850" y="2808225"/>
            <a:ext cx="61590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80" name="Google Shape;380;p24"/>
          <p:cNvSpPr/>
          <p:nvPr/>
        </p:nvSpPr>
        <p:spPr>
          <a:xfrm>
            <a:off x="214300" y="2808225"/>
            <a:ext cx="41283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81" name="Google Shape;381;p24"/>
          <p:cNvSpPr/>
          <p:nvPr/>
        </p:nvSpPr>
        <p:spPr>
          <a:xfrm>
            <a:off x="214300" y="2808225"/>
            <a:ext cx="21432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82" name="Google Shape;382;p24"/>
          <p:cNvSpPr txBox="1"/>
          <p:nvPr/>
        </p:nvSpPr>
        <p:spPr>
          <a:xfrm>
            <a:off x="266050"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Préparation</a:t>
            </a:r>
            <a:endParaRPr b="1" sz="1900">
              <a:solidFill>
                <a:schemeClr val="dk2"/>
              </a:solidFill>
              <a:latin typeface="Nunito"/>
              <a:ea typeface="Nunito"/>
              <a:cs typeface="Nunito"/>
              <a:sym typeface="Nunito"/>
            </a:endParaRPr>
          </a:p>
        </p:txBody>
      </p:sp>
      <p:sp>
        <p:nvSpPr>
          <p:cNvPr id="383" name="Google Shape;383;p24"/>
          <p:cNvSpPr txBox="1"/>
          <p:nvPr/>
        </p:nvSpPr>
        <p:spPr>
          <a:xfrm>
            <a:off x="2413775"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Entrainement</a:t>
            </a:r>
            <a:endParaRPr b="1" sz="1900">
              <a:solidFill>
                <a:schemeClr val="dk2"/>
              </a:solidFill>
              <a:latin typeface="Nunito"/>
              <a:ea typeface="Nunito"/>
              <a:cs typeface="Nunito"/>
              <a:sym typeface="Nunito"/>
            </a:endParaRPr>
          </a:p>
        </p:txBody>
      </p:sp>
      <p:sp>
        <p:nvSpPr>
          <p:cNvPr id="384" name="Google Shape;384;p24"/>
          <p:cNvSpPr txBox="1"/>
          <p:nvPr/>
        </p:nvSpPr>
        <p:spPr>
          <a:xfrm>
            <a:off x="4342600"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Test</a:t>
            </a:r>
            <a:endParaRPr b="1" sz="1900">
              <a:solidFill>
                <a:schemeClr val="dk2"/>
              </a:solidFill>
              <a:latin typeface="Nunito"/>
              <a:ea typeface="Nunito"/>
              <a:cs typeface="Nunito"/>
              <a:sym typeface="Nunito"/>
            </a:endParaRPr>
          </a:p>
        </p:txBody>
      </p:sp>
      <p:sp>
        <p:nvSpPr>
          <p:cNvPr id="385" name="Google Shape;385;p24"/>
          <p:cNvSpPr txBox="1"/>
          <p:nvPr/>
        </p:nvSpPr>
        <p:spPr>
          <a:xfrm>
            <a:off x="6494900" y="28857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Performance</a:t>
            </a:r>
            <a:endParaRPr b="1" sz="1900">
              <a:solidFill>
                <a:schemeClr val="dk2"/>
              </a:solidFill>
              <a:latin typeface="Nunito"/>
              <a:ea typeface="Nunito"/>
              <a:cs typeface="Nunito"/>
              <a:sym typeface="Nunito"/>
            </a:endParaRPr>
          </a:p>
        </p:txBody>
      </p:sp>
      <p:sp>
        <p:nvSpPr>
          <p:cNvPr id="386" name="Google Shape;386;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5"/>
          <p:cNvSpPr txBox="1"/>
          <p:nvPr>
            <p:ph type="title"/>
          </p:nvPr>
        </p:nvSpPr>
        <p:spPr>
          <a:xfrm>
            <a:off x="1303800" y="59118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Régression logistique : Test &amp; </a:t>
            </a:r>
            <a:r>
              <a:rPr lang="fr"/>
              <a:t>Performance</a:t>
            </a:r>
            <a:endParaRPr/>
          </a:p>
        </p:txBody>
      </p:sp>
      <p:pic>
        <p:nvPicPr>
          <p:cNvPr id="392" name="Google Shape;392;p25"/>
          <p:cNvPicPr preferRelativeResize="0"/>
          <p:nvPr/>
        </p:nvPicPr>
        <p:blipFill>
          <a:blip r:embed="rId3">
            <a:alphaModFix/>
          </a:blip>
          <a:stretch>
            <a:fillRect/>
          </a:stretch>
        </p:blipFill>
        <p:spPr>
          <a:xfrm>
            <a:off x="189875" y="1345000"/>
            <a:ext cx="3622300" cy="2892776"/>
          </a:xfrm>
          <a:prstGeom prst="rect">
            <a:avLst/>
          </a:prstGeom>
          <a:noFill/>
          <a:ln>
            <a:noFill/>
          </a:ln>
        </p:spPr>
      </p:pic>
      <p:sp>
        <p:nvSpPr>
          <p:cNvPr id="393" name="Google Shape;393;p25"/>
          <p:cNvSpPr txBox="1"/>
          <p:nvPr/>
        </p:nvSpPr>
        <p:spPr>
          <a:xfrm>
            <a:off x="4249300" y="4249300"/>
            <a:ext cx="4714800" cy="6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Matrice [97 , 3] 97 VN ,3FP    → Precision 1</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[0,200] 0FN , 200 VP → Rappel 0,97</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ROC-AUC : 0.99969</a:t>
            </a:r>
            <a:endParaRPr b="1" sz="1300">
              <a:solidFill>
                <a:schemeClr val="dk2"/>
              </a:solidFill>
              <a:latin typeface="Nunito"/>
              <a:ea typeface="Nunito"/>
              <a:cs typeface="Nunito"/>
              <a:sym typeface="Nunito"/>
            </a:endParaRPr>
          </a:p>
        </p:txBody>
      </p:sp>
      <p:pic>
        <p:nvPicPr>
          <p:cNvPr id="394" name="Google Shape;394;p25"/>
          <p:cNvPicPr preferRelativeResize="0"/>
          <p:nvPr/>
        </p:nvPicPr>
        <p:blipFill>
          <a:blip r:embed="rId4">
            <a:alphaModFix/>
          </a:blip>
          <a:stretch>
            <a:fillRect/>
          </a:stretch>
        </p:blipFill>
        <p:spPr>
          <a:xfrm>
            <a:off x="4825725" y="1314425"/>
            <a:ext cx="3622299" cy="2906775"/>
          </a:xfrm>
          <a:prstGeom prst="rect">
            <a:avLst/>
          </a:prstGeom>
          <a:noFill/>
          <a:ln>
            <a:noFill/>
          </a:ln>
        </p:spPr>
      </p:pic>
      <p:sp>
        <p:nvSpPr>
          <p:cNvPr id="395" name="Google Shape;395;p25"/>
          <p:cNvSpPr txBox="1"/>
          <p:nvPr/>
        </p:nvSpPr>
        <p:spPr>
          <a:xfrm>
            <a:off x="526675" y="4404650"/>
            <a:ext cx="29487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Proba proche de 1 et de 0 d’appartenir à la classe 1</a:t>
            </a:r>
            <a:endParaRPr sz="1300">
              <a:solidFill>
                <a:schemeClr val="dk2"/>
              </a:solidFill>
              <a:latin typeface="Nunito"/>
              <a:ea typeface="Nunito"/>
              <a:cs typeface="Nunito"/>
              <a:sym typeface="Nunito"/>
            </a:endParaRPr>
          </a:p>
        </p:txBody>
      </p:sp>
      <p:sp>
        <p:nvSpPr>
          <p:cNvPr id="396" name="Google Shape;396;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6"/>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KNN : K-Nearest Neighbors</a:t>
            </a:r>
            <a:endParaRPr/>
          </a:p>
        </p:txBody>
      </p:sp>
      <p:sp>
        <p:nvSpPr>
          <p:cNvPr id="402" name="Google Shape;402;p26"/>
          <p:cNvSpPr txBox="1"/>
          <p:nvPr/>
        </p:nvSpPr>
        <p:spPr>
          <a:xfrm>
            <a:off x="0" y="1501850"/>
            <a:ext cx="91440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Pour prédire la valeur de y pour un nouveau point, KNN regarde les K points les plus proches (selon la distance entre les variables X)</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Exemple : Pour prédire la température dans une ville, KNN dira : “je regarde les (k)villes voisines les plus proches et je fais une moyenne</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403" name="Google Shape;403;p26"/>
          <p:cNvSpPr txBox="1"/>
          <p:nvPr/>
        </p:nvSpPr>
        <p:spPr>
          <a:xfrm>
            <a:off x="108075" y="3492425"/>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1er dataset X sans la valeur cible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2eme dataset y uniquement valeur cible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on découpe en train / test</a:t>
            </a:r>
            <a:endParaRPr sz="1300">
              <a:solidFill>
                <a:schemeClr val="dk2"/>
              </a:solidFill>
              <a:latin typeface="Nunito"/>
              <a:ea typeface="Nunito"/>
              <a:cs typeface="Nunito"/>
              <a:sym typeface="Nunito"/>
            </a:endParaRPr>
          </a:p>
        </p:txBody>
      </p:sp>
      <p:sp>
        <p:nvSpPr>
          <p:cNvPr id="404" name="Google Shape;404;p26"/>
          <p:cNvSpPr txBox="1"/>
          <p:nvPr/>
        </p:nvSpPr>
        <p:spPr>
          <a:xfrm>
            <a:off x="2270575" y="3556150"/>
            <a:ext cx="1857600" cy="15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fr" sz="1300">
                <a:solidFill>
                  <a:schemeClr val="dk2"/>
                </a:solidFill>
                <a:latin typeface="Nunito"/>
                <a:ea typeface="Nunito"/>
                <a:cs typeface="Nunito"/>
                <a:sym typeface="Nunito"/>
              </a:rPr>
              <a:t>Entrainement sur X_train et y_train avec la </a:t>
            </a:r>
            <a:r>
              <a:rPr lang="fr" sz="1300">
                <a:solidFill>
                  <a:schemeClr val="dk2"/>
                </a:solidFill>
                <a:latin typeface="Nunito"/>
                <a:ea typeface="Nunito"/>
                <a:cs typeface="Nunito"/>
                <a:sym typeface="Nunito"/>
              </a:rPr>
              <a:t>KNeighborsClassifier</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Définition du modèle et de la grille</a:t>
            </a:r>
            <a:endParaRPr sz="1300">
              <a:solidFill>
                <a:schemeClr val="dk2"/>
              </a:solidFill>
              <a:latin typeface="Nunito"/>
              <a:ea typeface="Nunito"/>
              <a:cs typeface="Nunito"/>
              <a:sym typeface="Nunito"/>
            </a:endParaRPr>
          </a:p>
        </p:txBody>
      </p:sp>
      <p:sp>
        <p:nvSpPr>
          <p:cNvPr id="405" name="Google Shape;405;p26"/>
          <p:cNvSpPr txBox="1"/>
          <p:nvPr/>
        </p:nvSpPr>
        <p:spPr>
          <a:xfrm>
            <a:off x="4342675" y="3449900"/>
            <a:ext cx="18576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Evaluer objectivement le comportement du modèle sur des données “nouvelles”.</a:t>
            </a:r>
            <a:endParaRPr sz="1300">
              <a:solidFill>
                <a:schemeClr val="dk2"/>
              </a:solidFill>
              <a:latin typeface="Nunito"/>
              <a:ea typeface="Nunito"/>
              <a:cs typeface="Nunito"/>
              <a:sym typeface="Nunito"/>
            </a:endParaRPr>
          </a:p>
        </p:txBody>
      </p:sp>
      <p:sp>
        <p:nvSpPr>
          <p:cNvPr id="406" name="Google Shape;406;p26"/>
          <p:cNvSpPr txBox="1"/>
          <p:nvPr/>
        </p:nvSpPr>
        <p:spPr>
          <a:xfrm>
            <a:off x="6414855" y="3449900"/>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On regarde plusieurs score: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Matrice de confusion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Précision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Rappel</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Courbe ROC-AUC</a:t>
            </a:r>
            <a:endParaRPr sz="1300">
              <a:solidFill>
                <a:schemeClr val="dk2"/>
              </a:solidFill>
              <a:latin typeface="Nunito"/>
              <a:ea typeface="Nunito"/>
              <a:cs typeface="Nunito"/>
              <a:sym typeface="Nunito"/>
            </a:endParaRPr>
          </a:p>
        </p:txBody>
      </p:sp>
      <p:sp>
        <p:nvSpPr>
          <p:cNvPr id="407" name="Google Shape;407;p26"/>
          <p:cNvSpPr/>
          <p:nvPr/>
        </p:nvSpPr>
        <p:spPr>
          <a:xfrm>
            <a:off x="214300" y="2808225"/>
            <a:ext cx="82728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08" name="Google Shape;408;p26"/>
          <p:cNvSpPr/>
          <p:nvPr/>
        </p:nvSpPr>
        <p:spPr>
          <a:xfrm>
            <a:off x="255850" y="2808225"/>
            <a:ext cx="61590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09" name="Google Shape;409;p26"/>
          <p:cNvSpPr/>
          <p:nvPr/>
        </p:nvSpPr>
        <p:spPr>
          <a:xfrm>
            <a:off x="214300" y="2808225"/>
            <a:ext cx="41283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10" name="Google Shape;410;p26"/>
          <p:cNvSpPr/>
          <p:nvPr/>
        </p:nvSpPr>
        <p:spPr>
          <a:xfrm>
            <a:off x="214300" y="2808225"/>
            <a:ext cx="21432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11" name="Google Shape;411;p26"/>
          <p:cNvSpPr txBox="1"/>
          <p:nvPr/>
        </p:nvSpPr>
        <p:spPr>
          <a:xfrm>
            <a:off x="266050"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Préparation</a:t>
            </a:r>
            <a:endParaRPr b="1" sz="1900">
              <a:solidFill>
                <a:schemeClr val="dk2"/>
              </a:solidFill>
              <a:latin typeface="Nunito"/>
              <a:ea typeface="Nunito"/>
              <a:cs typeface="Nunito"/>
              <a:sym typeface="Nunito"/>
            </a:endParaRPr>
          </a:p>
        </p:txBody>
      </p:sp>
      <p:sp>
        <p:nvSpPr>
          <p:cNvPr id="412" name="Google Shape;412;p26"/>
          <p:cNvSpPr txBox="1"/>
          <p:nvPr/>
        </p:nvSpPr>
        <p:spPr>
          <a:xfrm>
            <a:off x="2413775"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Entrainement</a:t>
            </a:r>
            <a:endParaRPr b="1" sz="1900">
              <a:solidFill>
                <a:schemeClr val="dk2"/>
              </a:solidFill>
              <a:latin typeface="Nunito"/>
              <a:ea typeface="Nunito"/>
              <a:cs typeface="Nunito"/>
              <a:sym typeface="Nunito"/>
            </a:endParaRPr>
          </a:p>
        </p:txBody>
      </p:sp>
      <p:sp>
        <p:nvSpPr>
          <p:cNvPr id="413" name="Google Shape;413;p26"/>
          <p:cNvSpPr txBox="1"/>
          <p:nvPr/>
        </p:nvSpPr>
        <p:spPr>
          <a:xfrm>
            <a:off x="4342600"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Test</a:t>
            </a:r>
            <a:endParaRPr b="1" sz="1900">
              <a:solidFill>
                <a:schemeClr val="dk2"/>
              </a:solidFill>
              <a:latin typeface="Nunito"/>
              <a:ea typeface="Nunito"/>
              <a:cs typeface="Nunito"/>
              <a:sym typeface="Nunito"/>
            </a:endParaRPr>
          </a:p>
        </p:txBody>
      </p:sp>
      <p:sp>
        <p:nvSpPr>
          <p:cNvPr id="414" name="Google Shape;414;p26"/>
          <p:cNvSpPr txBox="1"/>
          <p:nvPr/>
        </p:nvSpPr>
        <p:spPr>
          <a:xfrm>
            <a:off x="6494900" y="28857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Performance</a:t>
            </a:r>
            <a:endParaRPr b="1" sz="1900">
              <a:solidFill>
                <a:schemeClr val="dk2"/>
              </a:solidFill>
              <a:latin typeface="Nunito"/>
              <a:ea typeface="Nunito"/>
              <a:cs typeface="Nunito"/>
              <a:sym typeface="Nunito"/>
            </a:endParaRPr>
          </a:p>
        </p:txBody>
      </p:sp>
      <p:sp>
        <p:nvSpPr>
          <p:cNvPr id="415" name="Google Shape;415;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7"/>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KNN : Evaluation Performance</a:t>
            </a:r>
            <a:endParaRPr/>
          </a:p>
        </p:txBody>
      </p:sp>
      <p:sp>
        <p:nvSpPr>
          <p:cNvPr id="421" name="Google Shape;421;p27"/>
          <p:cNvSpPr txBox="1"/>
          <p:nvPr/>
        </p:nvSpPr>
        <p:spPr>
          <a:xfrm>
            <a:off x="162575" y="1590475"/>
            <a:ext cx="8639100" cy="9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422" name="Google Shape;422;p27"/>
          <p:cNvPicPr preferRelativeResize="0"/>
          <p:nvPr/>
        </p:nvPicPr>
        <p:blipFill>
          <a:blip r:embed="rId3">
            <a:alphaModFix/>
          </a:blip>
          <a:stretch>
            <a:fillRect/>
          </a:stretch>
        </p:blipFill>
        <p:spPr>
          <a:xfrm>
            <a:off x="162575" y="1485400"/>
            <a:ext cx="4009475" cy="3217474"/>
          </a:xfrm>
          <a:prstGeom prst="rect">
            <a:avLst/>
          </a:prstGeom>
          <a:noFill/>
          <a:ln>
            <a:noFill/>
          </a:ln>
        </p:spPr>
      </p:pic>
      <p:sp>
        <p:nvSpPr>
          <p:cNvPr id="423" name="Google Shape;423;p27"/>
          <p:cNvSpPr txBox="1"/>
          <p:nvPr/>
        </p:nvSpPr>
        <p:spPr>
          <a:xfrm>
            <a:off x="4899625" y="1930138"/>
            <a:ext cx="3680400" cy="23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Matrice de Confusion: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[[ 97   3]</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  0 200]]</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ROC-AUC : 0,984475</a:t>
            </a:r>
            <a:endParaRPr b="1" sz="1300">
              <a:solidFill>
                <a:schemeClr val="dk2"/>
              </a:solidFill>
              <a:latin typeface="Nunito"/>
              <a:ea typeface="Nunito"/>
              <a:cs typeface="Nunito"/>
              <a:sym typeface="Nunito"/>
            </a:endParaRPr>
          </a:p>
          <a:p>
            <a:pPr indent="0" lvl="0" marL="0" rtl="0" algn="l">
              <a:spcBef>
                <a:spcPts val="0"/>
              </a:spcBef>
              <a:spcAft>
                <a:spcPts val="0"/>
              </a:spcAft>
              <a:buNone/>
            </a:pPr>
            <a:r>
              <a:t/>
            </a:r>
            <a:endParaRPr b="1"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Précision (faux billet) : 1.0 → Tous les billets prédits comme « faux » sont effectivement des faux. Aucun faux positif.</a:t>
            </a:r>
            <a:endParaRPr b="1" sz="1300">
              <a:solidFill>
                <a:schemeClr val="dk2"/>
              </a:solidFill>
              <a:latin typeface="Nunito"/>
              <a:ea typeface="Nunito"/>
              <a:cs typeface="Nunito"/>
              <a:sym typeface="Nunito"/>
            </a:endParaRPr>
          </a:p>
          <a:p>
            <a:pPr indent="0" lvl="0" marL="0" rtl="0" algn="l">
              <a:spcBef>
                <a:spcPts val="0"/>
              </a:spcBef>
              <a:spcAft>
                <a:spcPts val="0"/>
              </a:spcAft>
              <a:buNone/>
            </a:pPr>
            <a:r>
              <a:t/>
            </a:r>
            <a:endParaRPr b="1"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Rappel (faux billet) : 0.97 → Le modèle détecte 97 % des faux billets (3 faux billets réels ont été classés à tort comme vrais).</a:t>
            </a:r>
            <a:endParaRPr b="1" sz="1300">
              <a:solidFill>
                <a:schemeClr val="dk2"/>
              </a:solidFill>
              <a:latin typeface="Nunito"/>
              <a:ea typeface="Nunito"/>
              <a:cs typeface="Nunito"/>
              <a:sym typeface="Nunito"/>
            </a:endParaRPr>
          </a:p>
        </p:txBody>
      </p:sp>
      <p:sp>
        <p:nvSpPr>
          <p:cNvPr id="424" name="Google Shape;424;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8"/>
          <p:cNvSpPr txBox="1"/>
          <p:nvPr/>
        </p:nvSpPr>
        <p:spPr>
          <a:xfrm>
            <a:off x="0" y="1501850"/>
            <a:ext cx="91440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Algorithme qui combine plusieurs arbres de décision pour prédire une classe (par vote majoritaire) ou une valeur (par moyenne), afin d’améliorer la précision et la robustesse du modèle.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Dans notre cas : Pour vérifier si un billet est vrai ou faux.</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On demande l’avis à 100 experts différents : Chaque expert regarde une partie des informations du billet (diagonal, hauteur, marge, longueur…). Chaque expert </a:t>
            </a:r>
            <a:r>
              <a:rPr b="1" lang="fr" sz="1300">
                <a:solidFill>
                  <a:schemeClr val="dk2"/>
                </a:solidFill>
                <a:latin typeface="Nunito"/>
                <a:ea typeface="Nunito"/>
                <a:cs typeface="Nunito"/>
                <a:sym typeface="Nunito"/>
              </a:rPr>
              <a:t>vote </a:t>
            </a:r>
            <a:r>
              <a:rPr lang="fr" sz="1300">
                <a:solidFill>
                  <a:schemeClr val="dk2"/>
                </a:solidFill>
                <a:latin typeface="Nunito"/>
                <a:ea typeface="Nunito"/>
                <a:cs typeface="Nunito"/>
                <a:sym typeface="Nunito"/>
              </a:rPr>
              <a:t>si le billet est vrai ou faux, on prend la majorité pour décider si le billet est considéré vrai ou faux.</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430" name="Google Shape;430;p28"/>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Random Forest</a:t>
            </a:r>
            <a:endParaRPr/>
          </a:p>
        </p:txBody>
      </p:sp>
      <p:sp>
        <p:nvSpPr>
          <p:cNvPr id="431" name="Google Shape;431;p28"/>
          <p:cNvSpPr txBox="1"/>
          <p:nvPr/>
        </p:nvSpPr>
        <p:spPr>
          <a:xfrm>
            <a:off x="108075" y="3492425"/>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1er dataset X sans la valeur cible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2eme dataset y uniquement valeur cible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on découpe en train / test</a:t>
            </a:r>
            <a:endParaRPr sz="1300">
              <a:solidFill>
                <a:schemeClr val="dk2"/>
              </a:solidFill>
              <a:latin typeface="Nunito"/>
              <a:ea typeface="Nunito"/>
              <a:cs typeface="Nunito"/>
              <a:sym typeface="Nunito"/>
            </a:endParaRPr>
          </a:p>
        </p:txBody>
      </p:sp>
      <p:sp>
        <p:nvSpPr>
          <p:cNvPr id="432" name="Google Shape;432;p28"/>
          <p:cNvSpPr txBox="1"/>
          <p:nvPr/>
        </p:nvSpPr>
        <p:spPr>
          <a:xfrm>
            <a:off x="2135725" y="3556150"/>
            <a:ext cx="1984800" cy="15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fr" sz="1300">
                <a:solidFill>
                  <a:schemeClr val="dk2"/>
                </a:solidFill>
                <a:latin typeface="Nunito"/>
                <a:ea typeface="Nunito"/>
                <a:cs typeface="Nunito"/>
                <a:sym typeface="Nunito"/>
              </a:rPr>
              <a:t>Entrainement sur X_train et y_train avec la RandomForestClassifier</a:t>
            </a:r>
            <a:endParaRPr sz="1300">
              <a:solidFill>
                <a:schemeClr val="dk2"/>
              </a:solidFill>
              <a:latin typeface="Nunito"/>
              <a:ea typeface="Nunito"/>
              <a:cs typeface="Nunito"/>
              <a:sym typeface="Nunito"/>
            </a:endParaRPr>
          </a:p>
          <a:p>
            <a:pPr indent="0" lvl="0" marL="0" marR="0" rtl="0" algn="l">
              <a:lnSpc>
                <a:spcPct val="100000"/>
              </a:lnSpc>
              <a:spcBef>
                <a:spcPts val="0"/>
              </a:spcBef>
              <a:spcAft>
                <a:spcPts val="0"/>
              </a:spcAft>
              <a:buNone/>
            </a:pPr>
            <a:r>
              <a:rPr lang="fr" sz="1300">
                <a:solidFill>
                  <a:schemeClr val="dk2"/>
                </a:solidFill>
                <a:latin typeface="Nunito"/>
                <a:ea typeface="Nunito"/>
                <a:cs typeface="Nunito"/>
                <a:sym typeface="Nunito"/>
              </a:rPr>
              <a:t>Paramétrage du modèle</a:t>
            </a:r>
            <a:endParaRPr sz="1300">
              <a:solidFill>
                <a:schemeClr val="dk2"/>
              </a:solidFill>
              <a:latin typeface="Nunito"/>
              <a:ea typeface="Nunito"/>
              <a:cs typeface="Nunito"/>
              <a:sym typeface="Nunito"/>
            </a:endParaRPr>
          </a:p>
        </p:txBody>
      </p:sp>
      <p:sp>
        <p:nvSpPr>
          <p:cNvPr id="433" name="Google Shape;433;p28"/>
          <p:cNvSpPr txBox="1"/>
          <p:nvPr/>
        </p:nvSpPr>
        <p:spPr>
          <a:xfrm>
            <a:off x="4342675" y="3449900"/>
            <a:ext cx="18243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Evaluer objectivement le comportement du modèle sur des données “nouvelles”.</a:t>
            </a:r>
            <a:endParaRPr sz="1300">
              <a:solidFill>
                <a:schemeClr val="dk2"/>
              </a:solidFill>
              <a:latin typeface="Nunito"/>
              <a:ea typeface="Nunito"/>
              <a:cs typeface="Nunito"/>
              <a:sym typeface="Nunito"/>
            </a:endParaRPr>
          </a:p>
        </p:txBody>
      </p:sp>
      <p:sp>
        <p:nvSpPr>
          <p:cNvPr id="434" name="Google Shape;434;p28"/>
          <p:cNvSpPr txBox="1"/>
          <p:nvPr/>
        </p:nvSpPr>
        <p:spPr>
          <a:xfrm>
            <a:off x="6414855" y="3449900"/>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On regarde plusieurs score: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Matrice de confusion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Précision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Rappel</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Courbe ROC-AUC</a:t>
            </a:r>
            <a:endParaRPr sz="1300">
              <a:solidFill>
                <a:schemeClr val="dk2"/>
              </a:solidFill>
              <a:latin typeface="Nunito"/>
              <a:ea typeface="Nunito"/>
              <a:cs typeface="Nunito"/>
              <a:sym typeface="Nunito"/>
            </a:endParaRPr>
          </a:p>
        </p:txBody>
      </p:sp>
      <p:sp>
        <p:nvSpPr>
          <p:cNvPr id="435" name="Google Shape;435;p28"/>
          <p:cNvSpPr/>
          <p:nvPr/>
        </p:nvSpPr>
        <p:spPr>
          <a:xfrm>
            <a:off x="214300" y="2808225"/>
            <a:ext cx="82728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36" name="Google Shape;436;p28"/>
          <p:cNvSpPr/>
          <p:nvPr/>
        </p:nvSpPr>
        <p:spPr>
          <a:xfrm>
            <a:off x="255850" y="2808225"/>
            <a:ext cx="61590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37" name="Google Shape;437;p28"/>
          <p:cNvSpPr/>
          <p:nvPr/>
        </p:nvSpPr>
        <p:spPr>
          <a:xfrm>
            <a:off x="214300" y="2808225"/>
            <a:ext cx="41283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38" name="Google Shape;438;p28"/>
          <p:cNvSpPr/>
          <p:nvPr/>
        </p:nvSpPr>
        <p:spPr>
          <a:xfrm>
            <a:off x="214300" y="2808225"/>
            <a:ext cx="21432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39" name="Google Shape;439;p28"/>
          <p:cNvSpPr txBox="1"/>
          <p:nvPr/>
        </p:nvSpPr>
        <p:spPr>
          <a:xfrm>
            <a:off x="266050"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Préparation</a:t>
            </a:r>
            <a:endParaRPr b="1" sz="1900">
              <a:solidFill>
                <a:schemeClr val="dk2"/>
              </a:solidFill>
              <a:latin typeface="Nunito"/>
              <a:ea typeface="Nunito"/>
              <a:cs typeface="Nunito"/>
              <a:sym typeface="Nunito"/>
            </a:endParaRPr>
          </a:p>
        </p:txBody>
      </p:sp>
      <p:sp>
        <p:nvSpPr>
          <p:cNvPr id="440" name="Google Shape;440;p28"/>
          <p:cNvSpPr txBox="1"/>
          <p:nvPr/>
        </p:nvSpPr>
        <p:spPr>
          <a:xfrm>
            <a:off x="2413775"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Entrainement</a:t>
            </a:r>
            <a:endParaRPr b="1" sz="1900">
              <a:solidFill>
                <a:schemeClr val="dk2"/>
              </a:solidFill>
              <a:latin typeface="Nunito"/>
              <a:ea typeface="Nunito"/>
              <a:cs typeface="Nunito"/>
              <a:sym typeface="Nunito"/>
            </a:endParaRPr>
          </a:p>
        </p:txBody>
      </p:sp>
      <p:sp>
        <p:nvSpPr>
          <p:cNvPr id="441" name="Google Shape;441;p28"/>
          <p:cNvSpPr txBox="1"/>
          <p:nvPr/>
        </p:nvSpPr>
        <p:spPr>
          <a:xfrm>
            <a:off x="4342600"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Test</a:t>
            </a:r>
            <a:endParaRPr b="1" sz="1900">
              <a:solidFill>
                <a:schemeClr val="dk2"/>
              </a:solidFill>
              <a:latin typeface="Nunito"/>
              <a:ea typeface="Nunito"/>
              <a:cs typeface="Nunito"/>
              <a:sym typeface="Nunito"/>
            </a:endParaRPr>
          </a:p>
        </p:txBody>
      </p:sp>
      <p:sp>
        <p:nvSpPr>
          <p:cNvPr id="442" name="Google Shape;442;p28"/>
          <p:cNvSpPr txBox="1"/>
          <p:nvPr/>
        </p:nvSpPr>
        <p:spPr>
          <a:xfrm>
            <a:off x="6494900" y="28857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Performance</a:t>
            </a:r>
            <a:endParaRPr b="1" sz="1900">
              <a:solidFill>
                <a:schemeClr val="dk2"/>
              </a:solidFill>
              <a:latin typeface="Nunito"/>
              <a:ea typeface="Nunito"/>
              <a:cs typeface="Nunito"/>
              <a:sym typeface="Nunito"/>
            </a:endParaRPr>
          </a:p>
        </p:txBody>
      </p:sp>
      <p:sp>
        <p:nvSpPr>
          <p:cNvPr id="443" name="Google Shape;443;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9"/>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Random Forest</a:t>
            </a:r>
            <a:endParaRPr/>
          </a:p>
        </p:txBody>
      </p:sp>
      <p:pic>
        <p:nvPicPr>
          <p:cNvPr id="449" name="Google Shape;449;p29"/>
          <p:cNvPicPr preferRelativeResize="0"/>
          <p:nvPr/>
        </p:nvPicPr>
        <p:blipFill>
          <a:blip r:embed="rId3">
            <a:alphaModFix/>
          </a:blip>
          <a:stretch>
            <a:fillRect/>
          </a:stretch>
        </p:blipFill>
        <p:spPr>
          <a:xfrm>
            <a:off x="152400" y="1742885"/>
            <a:ext cx="4047776" cy="3248215"/>
          </a:xfrm>
          <a:prstGeom prst="rect">
            <a:avLst/>
          </a:prstGeom>
          <a:noFill/>
          <a:ln>
            <a:noFill/>
          </a:ln>
        </p:spPr>
      </p:pic>
      <p:sp>
        <p:nvSpPr>
          <p:cNvPr id="450" name="Google Shape;450;p29"/>
          <p:cNvSpPr txBox="1"/>
          <p:nvPr/>
        </p:nvSpPr>
        <p:spPr>
          <a:xfrm>
            <a:off x="4448825" y="2157900"/>
            <a:ext cx="4123500" cy="15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Matrice de Confusion: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[[ 97   3]</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  0 200]]</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Précision (faux billet) : 1.0</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Rappel (faux billet) : 0.97</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ROC-AUC : 0.99954</a:t>
            </a:r>
            <a:endParaRPr b="1"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451" name="Google Shape;451;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0"/>
          <p:cNvSpPr txBox="1"/>
          <p:nvPr/>
        </p:nvSpPr>
        <p:spPr>
          <a:xfrm>
            <a:off x="0" y="1501850"/>
            <a:ext cx="91440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Méthode qui regroupe des objets similaires en différents groupes (ou clusters), de sorte que les objets dans un même groupe se ressemblent beaucoup et que les groupes soient bien distincts les uns des autres.</a:t>
            </a:r>
            <a:endParaRPr sz="1300">
              <a:solidFill>
                <a:schemeClr val="dk2"/>
              </a:solidFill>
              <a:latin typeface="Nunito"/>
              <a:ea typeface="Nunito"/>
              <a:cs typeface="Nunito"/>
              <a:sym typeface="Nunito"/>
            </a:endParaRPr>
          </a:p>
        </p:txBody>
      </p:sp>
      <p:sp>
        <p:nvSpPr>
          <p:cNvPr id="457" name="Google Shape;457;p30"/>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K-Means</a:t>
            </a:r>
            <a:endParaRPr/>
          </a:p>
        </p:txBody>
      </p:sp>
      <p:sp>
        <p:nvSpPr>
          <p:cNvPr id="458" name="Google Shape;458;p30"/>
          <p:cNvSpPr txBox="1"/>
          <p:nvPr/>
        </p:nvSpPr>
        <p:spPr>
          <a:xfrm>
            <a:off x="108075" y="3492425"/>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Déterminer</a:t>
            </a:r>
            <a:r>
              <a:rPr lang="fr" sz="1300">
                <a:solidFill>
                  <a:schemeClr val="dk2"/>
                </a:solidFill>
                <a:latin typeface="Nunito"/>
                <a:ea typeface="Nunito"/>
                <a:cs typeface="Nunito"/>
                <a:sym typeface="Nunito"/>
              </a:rPr>
              <a:t> le nombre de cluster optimal via silhouette et méthode du coude</a:t>
            </a:r>
            <a:endParaRPr sz="1300">
              <a:solidFill>
                <a:schemeClr val="dk2"/>
              </a:solidFill>
              <a:latin typeface="Nunito"/>
              <a:ea typeface="Nunito"/>
              <a:cs typeface="Nunito"/>
              <a:sym typeface="Nunito"/>
            </a:endParaRPr>
          </a:p>
        </p:txBody>
      </p:sp>
      <p:sp>
        <p:nvSpPr>
          <p:cNvPr id="459" name="Google Shape;459;p30"/>
          <p:cNvSpPr txBox="1"/>
          <p:nvPr/>
        </p:nvSpPr>
        <p:spPr>
          <a:xfrm>
            <a:off x="2702649" y="3563525"/>
            <a:ext cx="3296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Initialisation des k centroïdes.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Attribution de chaque point au cluster le plus proche.</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MAJ des centroïdes et répétition jusqu’à convergence</a:t>
            </a:r>
            <a:endParaRPr sz="1300">
              <a:solidFill>
                <a:schemeClr val="dk2"/>
              </a:solidFill>
              <a:latin typeface="Nunito"/>
              <a:ea typeface="Nunito"/>
              <a:cs typeface="Nunito"/>
              <a:sym typeface="Nunito"/>
            </a:endParaRPr>
          </a:p>
        </p:txBody>
      </p:sp>
      <p:sp>
        <p:nvSpPr>
          <p:cNvPr id="460" name="Google Shape;460;p30"/>
          <p:cNvSpPr txBox="1"/>
          <p:nvPr/>
        </p:nvSpPr>
        <p:spPr>
          <a:xfrm>
            <a:off x="6414855" y="3449900"/>
            <a:ext cx="2072100" cy="15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On regarde plusieurs scores: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Matrice de confusion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Précision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Rappel</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Courbe ROC-AUC</a:t>
            </a:r>
            <a:endParaRPr sz="1300">
              <a:solidFill>
                <a:schemeClr val="dk2"/>
              </a:solidFill>
              <a:latin typeface="Nunito"/>
              <a:ea typeface="Nunito"/>
              <a:cs typeface="Nunito"/>
              <a:sym typeface="Nunito"/>
            </a:endParaRPr>
          </a:p>
        </p:txBody>
      </p:sp>
      <p:sp>
        <p:nvSpPr>
          <p:cNvPr id="461" name="Google Shape;461;p30"/>
          <p:cNvSpPr/>
          <p:nvPr/>
        </p:nvSpPr>
        <p:spPr>
          <a:xfrm>
            <a:off x="214300" y="2808225"/>
            <a:ext cx="82728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62" name="Google Shape;462;p30"/>
          <p:cNvSpPr/>
          <p:nvPr/>
        </p:nvSpPr>
        <p:spPr>
          <a:xfrm>
            <a:off x="255850" y="2808225"/>
            <a:ext cx="61590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63" name="Google Shape;463;p30"/>
          <p:cNvSpPr/>
          <p:nvPr/>
        </p:nvSpPr>
        <p:spPr>
          <a:xfrm>
            <a:off x="214300" y="2808225"/>
            <a:ext cx="2143200" cy="5985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464" name="Google Shape;464;p30"/>
          <p:cNvSpPr txBox="1"/>
          <p:nvPr/>
        </p:nvSpPr>
        <p:spPr>
          <a:xfrm>
            <a:off x="266050" y="28599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Préparation</a:t>
            </a:r>
            <a:endParaRPr b="1" sz="1900">
              <a:solidFill>
                <a:schemeClr val="dk2"/>
              </a:solidFill>
              <a:latin typeface="Nunito"/>
              <a:ea typeface="Nunito"/>
              <a:cs typeface="Nunito"/>
              <a:sym typeface="Nunito"/>
            </a:endParaRPr>
          </a:p>
        </p:txBody>
      </p:sp>
      <p:sp>
        <p:nvSpPr>
          <p:cNvPr id="465" name="Google Shape;465;p30"/>
          <p:cNvSpPr txBox="1"/>
          <p:nvPr/>
        </p:nvSpPr>
        <p:spPr>
          <a:xfrm>
            <a:off x="3426545" y="2800854"/>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Application de K-means</a:t>
            </a:r>
            <a:endParaRPr b="1" sz="1900">
              <a:solidFill>
                <a:schemeClr val="dk2"/>
              </a:solidFill>
              <a:latin typeface="Nunito"/>
              <a:ea typeface="Nunito"/>
              <a:cs typeface="Nunito"/>
              <a:sym typeface="Nunito"/>
            </a:endParaRPr>
          </a:p>
        </p:txBody>
      </p:sp>
      <p:sp>
        <p:nvSpPr>
          <p:cNvPr id="466" name="Google Shape;466;p30"/>
          <p:cNvSpPr txBox="1"/>
          <p:nvPr/>
        </p:nvSpPr>
        <p:spPr>
          <a:xfrm>
            <a:off x="6494900" y="2885775"/>
            <a:ext cx="1707000" cy="4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600">
                <a:solidFill>
                  <a:schemeClr val="dk2"/>
                </a:solidFill>
                <a:latin typeface="Nunito"/>
                <a:ea typeface="Nunito"/>
                <a:cs typeface="Nunito"/>
                <a:sym typeface="Nunito"/>
              </a:rPr>
              <a:t>Performance</a:t>
            </a:r>
            <a:endParaRPr b="1" sz="1900">
              <a:solidFill>
                <a:schemeClr val="dk2"/>
              </a:solidFill>
              <a:latin typeface="Nunito"/>
              <a:ea typeface="Nunito"/>
              <a:cs typeface="Nunito"/>
              <a:sym typeface="Nunito"/>
            </a:endParaRPr>
          </a:p>
        </p:txBody>
      </p:sp>
      <p:sp>
        <p:nvSpPr>
          <p:cNvPr id="467" name="Google Shape;467;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1"/>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K-Means</a:t>
            </a:r>
            <a:endParaRPr/>
          </a:p>
        </p:txBody>
      </p:sp>
      <p:sp>
        <p:nvSpPr>
          <p:cNvPr id="473" name="Google Shape;473;p31"/>
          <p:cNvSpPr txBox="1"/>
          <p:nvPr/>
        </p:nvSpPr>
        <p:spPr>
          <a:xfrm>
            <a:off x="4448825" y="2157900"/>
            <a:ext cx="4123500" cy="21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Matrice de confusion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[[498   1]</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 [  2 999]]</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Précision : 0.998001998001998</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Rappel : 0.999</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ROC score: 0.9975</a:t>
            </a:r>
            <a:endParaRPr b="1"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474" name="Google Shape;474;p31"/>
          <p:cNvPicPr preferRelativeResize="0"/>
          <p:nvPr/>
        </p:nvPicPr>
        <p:blipFill>
          <a:blip r:embed="rId3">
            <a:alphaModFix/>
          </a:blip>
          <a:stretch>
            <a:fillRect/>
          </a:stretch>
        </p:blipFill>
        <p:spPr>
          <a:xfrm>
            <a:off x="152400" y="1742885"/>
            <a:ext cx="4095833" cy="3248215"/>
          </a:xfrm>
          <a:prstGeom prst="rect">
            <a:avLst/>
          </a:prstGeom>
          <a:noFill/>
          <a:ln>
            <a:noFill/>
          </a:ln>
        </p:spPr>
      </p:pic>
      <p:sp>
        <p:nvSpPr>
          <p:cNvPr id="475" name="Google Shape;475;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2"/>
          <p:cNvSpPr txBox="1"/>
          <p:nvPr>
            <p:ph type="title"/>
          </p:nvPr>
        </p:nvSpPr>
        <p:spPr>
          <a:xfrm>
            <a:off x="1303800" y="59118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Synthèse</a:t>
            </a:r>
            <a:endParaRPr/>
          </a:p>
        </p:txBody>
      </p:sp>
      <p:sp>
        <p:nvSpPr>
          <p:cNvPr id="481" name="Google Shape;481;p32"/>
          <p:cNvSpPr txBox="1"/>
          <p:nvPr/>
        </p:nvSpPr>
        <p:spPr>
          <a:xfrm>
            <a:off x="391675" y="1640600"/>
            <a:ext cx="2586600" cy="30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00">
                <a:solidFill>
                  <a:schemeClr val="dk2"/>
                </a:solidFill>
                <a:latin typeface="Nunito"/>
                <a:ea typeface="Nunito"/>
                <a:cs typeface="Nunito"/>
                <a:sym typeface="Nunito"/>
              </a:rPr>
              <a:t>Régression logistique :</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Précision (faux billets) : 1.0</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Rappel (faux billets) : 0.97</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ROC-AUC : 0.99969</a:t>
            </a:r>
            <a:endParaRPr sz="1100">
              <a:solidFill>
                <a:schemeClr val="dk2"/>
              </a:solidFill>
              <a:latin typeface="Nunito"/>
              <a:ea typeface="Nunito"/>
              <a:cs typeface="Nunito"/>
              <a:sym typeface="Nunito"/>
            </a:endParaRPr>
          </a:p>
          <a:p>
            <a:pPr indent="0" lvl="0" marL="0" rtl="0" algn="l">
              <a:spcBef>
                <a:spcPts val="0"/>
              </a:spcBef>
              <a:spcAft>
                <a:spcPts val="0"/>
              </a:spcAft>
              <a:buNone/>
            </a:pPr>
            <a:r>
              <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KNN :</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Précision (faux billets) : 1.0</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Rappel (faux billets) : 0.97</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ROC-AUC : 0,984475</a:t>
            </a:r>
            <a:endParaRPr sz="1100">
              <a:solidFill>
                <a:schemeClr val="dk2"/>
              </a:solidFill>
              <a:latin typeface="Nunito"/>
              <a:ea typeface="Nunito"/>
              <a:cs typeface="Nunito"/>
              <a:sym typeface="Nunito"/>
            </a:endParaRPr>
          </a:p>
          <a:p>
            <a:pPr indent="0" lvl="0" marL="0" rtl="0" algn="l">
              <a:spcBef>
                <a:spcPts val="0"/>
              </a:spcBef>
              <a:spcAft>
                <a:spcPts val="0"/>
              </a:spcAft>
              <a:buNone/>
            </a:pPr>
            <a:r>
              <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Random Forest :</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Précision (faux billets) : 1.0</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Rappel (faux billets) : 0.97</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ROC-AUC Random Forest : 0.99954</a:t>
            </a:r>
            <a:endParaRPr sz="1100">
              <a:solidFill>
                <a:schemeClr val="dk2"/>
              </a:solidFill>
              <a:latin typeface="Nunito"/>
              <a:ea typeface="Nunito"/>
              <a:cs typeface="Nunito"/>
              <a:sym typeface="Nunito"/>
            </a:endParaRPr>
          </a:p>
          <a:p>
            <a:pPr indent="0" lvl="0" marL="0" rtl="0" algn="l">
              <a:spcBef>
                <a:spcPts val="0"/>
              </a:spcBef>
              <a:spcAft>
                <a:spcPts val="0"/>
              </a:spcAft>
              <a:buNone/>
            </a:pPr>
            <a:r>
              <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K-Means :</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Précision (faux billets) : 0.999</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Rappel (faux billets) : 0.998</a:t>
            </a:r>
            <a:endParaRPr sz="1100">
              <a:solidFill>
                <a:schemeClr val="dk2"/>
              </a:solidFill>
              <a:latin typeface="Nunito"/>
              <a:ea typeface="Nunito"/>
              <a:cs typeface="Nunito"/>
              <a:sym typeface="Nunito"/>
            </a:endParaRPr>
          </a:p>
          <a:p>
            <a:pPr indent="0" lvl="0" marL="0" rtl="0" algn="l">
              <a:spcBef>
                <a:spcPts val="0"/>
              </a:spcBef>
              <a:spcAft>
                <a:spcPts val="0"/>
              </a:spcAft>
              <a:buNone/>
            </a:pPr>
            <a:r>
              <a:rPr lang="fr" sz="1100">
                <a:solidFill>
                  <a:schemeClr val="dk2"/>
                </a:solidFill>
                <a:latin typeface="Nunito"/>
                <a:ea typeface="Nunito"/>
                <a:cs typeface="Nunito"/>
                <a:sym typeface="Nunito"/>
              </a:rPr>
              <a:t>ROC score: 0.9975</a:t>
            </a:r>
            <a:endParaRPr sz="1100">
              <a:solidFill>
                <a:schemeClr val="dk2"/>
              </a:solidFill>
              <a:latin typeface="Nunito"/>
              <a:ea typeface="Nunito"/>
              <a:cs typeface="Nunito"/>
              <a:sym typeface="Nunito"/>
            </a:endParaRPr>
          </a:p>
          <a:p>
            <a:pPr indent="0" lvl="0" marL="0" rtl="0" algn="l">
              <a:spcBef>
                <a:spcPts val="0"/>
              </a:spcBef>
              <a:spcAft>
                <a:spcPts val="0"/>
              </a:spcAft>
              <a:buNone/>
            </a:pPr>
            <a:r>
              <a:t/>
            </a:r>
            <a:endParaRPr sz="1100">
              <a:solidFill>
                <a:schemeClr val="dk2"/>
              </a:solidFill>
              <a:latin typeface="Nunito"/>
              <a:ea typeface="Nunito"/>
              <a:cs typeface="Nunito"/>
              <a:sym typeface="Nunito"/>
            </a:endParaRPr>
          </a:p>
        </p:txBody>
      </p:sp>
      <p:sp>
        <p:nvSpPr>
          <p:cNvPr id="482" name="Google Shape;482;p32"/>
          <p:cNvSpPr txBox="1"/>
          <p:nvPr/>
        </p:nvSpPr>
        <p:spPr>
          <a:xfrm>
            <a:off x="3148175" y="1126950"/>
            <a:ext cx="5646000" cy="28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dk2"/>
                </a:solidFill>
                <a:latin typeface="Nunito"/>
                <a:ea typeface="Nunito"/>
                <a:cs typeface="Nunito"/>
                <a:sym typeface="Nunito"/>
              </a:rPr>
              <a:t>Interprétation</a:t>
            </a:r>
            <a:endParaRPr b="1"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Rappel (~0.97) : → Le modèle détecte 97 % des faux billets (3 faux billets réels ont été classés à tort comme vrais).</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Précision (= 1.0) : Tous les billets prédits comme « faux » sont effectivement des faux. Aucun faux positif.</a:t>
            </a:r>
            <a:endParaRPr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Analyse globale</a:t>
            </a:r>
            <a:endParaRPr b="1"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Les scores entre les différents algorithmes sont très similaires.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Les variables length, margin_low et margin_up sont très discriminantes, ce qui permet une séparation claire entre vrais et faux billets.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Les courbes ROC sont quasi parfaites pour tous les modèles.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K-Means, bien que non supervisé, obtient également de très bonnes performances.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Cela confirme l’existence de deux groupes distincts dans les données.</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Cependant, comme la variable cible (is_genuine) est connue, les modèles supervisés restent plus adaptés.</a:t>
            </a:r>
            <a:endParaRPr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Choix final : Régression logistique</a:t>
            </a:r>
            <a:endParaRPr b="1" sz="1300">
              <a:solidFill>
                <a:schemeClr val="dk2"/>
              </a:solidFill>
              <a:latin typeface="Nunito"/>
              <a:ea typeface="Nunito"/>
              <a:cs typeface="Nunito"/>
              <a:sym typeface="Nunito"/>
            </a:endParaRPr>
          </a:p>
          <a:p>
            <a:pPr indent="0" lvl="0" marL="0" rtl="0" algn="l">
              <a:spcBef>
                <a:spcPts val="0"/>
              </a:spcBef>
              <a:spcAft>
                <a:spcPts val="0"/>
              </a:spcAft>
              <a:buNone/>
            </a:pPr>
            <a:r>
              <a:rPr b="1" lang="fr" sz="1300">
                <a:solidFill>
                  <a:schemeClr val="dk2"/>
                </a:solidFill>
                <a:latin typeface="Nunito"/>
                <a:ea typeface="Nunito"/>
                <a:cs typeface="Nunito"/>
                <a:sym typeface="Nunito"/>
              </a:rPr>
              <a:t>Pour sa simplicité, sa rapidité d’exécution, et sa courbe ROC optimale.</a:t>
            </a:r>
            <a:endParaRPr b="1" sz="1300">
              <a:solidFill>
                <a:schemeClr val="dk2"/>
              </a:solidFill>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483" name="Google Shape;483;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