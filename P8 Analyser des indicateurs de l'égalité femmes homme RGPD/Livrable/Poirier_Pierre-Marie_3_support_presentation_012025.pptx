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Playfair Displ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fairDisplay-bold.fntdata"/><Relationship Id="rId21" Type="http://schemas.openxmlformats.org/officeDocument/2006/relationships/font" Target="fonts/PlayfairDisplay-regular.fntdata"/><Relationship Id="rId24" Type="http://schemas.openxmlformats.org/officeDocument/2006/relationships/font" Target="fonts/PlayfairDisplay-boldItalic.fntdata"/><Relationship Id="rId23" Type="http://schemas.openxmlformats.org/officeDocument/2006/relationships/font" Target="fonts/PlayfairDispl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ee81c79196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ee81c79196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ee81c79196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ee81c79196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26d0cde6b6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26d0cde6b6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28fd9d78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28fd9d78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26d0cde6b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26d0cde6b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26d0cde6b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26d0cde6b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26d0cde6b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26d0cde6b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ee81c7919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ee81c7919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26d0cde6b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26d0cde6b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6d0cde6b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6d0cde6b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26d0cde6b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26d0cde6b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26d0cde6b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26d0cde6b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ee81c79196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ee81c79196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f4ee5d3e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f4ee5d3e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lvl1pPr lvl="0" rtl="0">
              <a:spcBef>
                <a:spcPts val="100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lvl1pPr lvl="0" rtl="0">
              <a:lnSpc>
                <a:spcPct val="100000"/>
              </a:lnSpc>
              <a:spcBef>
                <a:spcPts val="1000"/>
              </a:spcBef>
              <a:spcAft>
                <a:spcPts val="0"/>
              </a:spcAft>
              <a:buClr>
                <a:schemeClr val="accent6"/>
              </a:buClr>
              <a:buSzPts val="2400"/>
              <a:buNone/>
              <a:defRPr sz="2400">
                <a:solidFill>
                  <a:schemeClr val="accent6"/>
                </a:solidFill>
              </a:defRPr>
            </a:lvl1pPr>
            <a:lvl2pPr lvl="1" rtl="0">
              <a:lnSpc>
                <a:spcPct val="100000"/>
              </a:lnSpc>
              <a:spcBef>
                <a:spcPts val="0"/>
              </a:spcBef>
              <a:spcAft>
                <a:spcPts val="0"/>
              </a:spcAft>
              <a:buClr>
                <a:schemeClr val="accent6"/>
              </a:buClr>
              <a:buSzPts val="2400"/>
              <a:buNone/>
              <a:defRPr sz="2400">
                <a:solidFill>
                  <a:schemeClr val="accent6"/>
                </a:solidFill>
              </a:defRPr>
            </a:lvl2pPr>
            <a:lvl3pPr lvl="2" rtl="0">
              <a:lnSpc>
                <a:spcPct val="100000"/>
              </a:lnSpc>
              <a:spcBef>
                <a:spcPts val="0"/>
              </a:spcBef>
              <a:spcAft>
                <a:spcPts val="0"/>
              </a:spcAft>
              <a:buClr>
                <a:schemeClr val="accent6"/>
              </a:buClr>
              <a:buSzPts val="2400"/>
              <a:buNone/>
              <a:defRPr sz="2400">
                <a:solidFill>
                  <a:schemeClr val="accent6"/>
                </a:solidFill>
              </a:defRPr>
            </a:lvl3pPr>
            <a:lvl4pPr lvl="3" rtl="0">
              <a:lnSpc>
                <a:spcPct val="100000"/>
              </a:lnSpc>
              <a:spcBef>
                <a:spcPts val="0"/>
              </a:spcBef>
              <a:spcAft>
                <a:spcPts val="0"/>
              </a:spcAft>
              <a:buClr>
                <a:schemeClr val="accent6"/>
              </a:buClr>
              <a:buSzPts val="2400"/>
              <a:buNone/>
              <a:defRPr sz="2400">
                <a:solidFill>
                  <a:schemeClr val="accent6"/>
                </a:solidFill>
              </a:defRPr>
            </a:lvl4pPr>
            <a:lvl5pPr lvl="4" rtl="0">
              <a:lnSpc>
                <a:spcPct val="100000"/>
              </a:lnSpc>
              <a:spcBef>
                <a:spcPts val="0"/>
              </a:spcBef>
              <a:spcAft>
                <a:spcPts val="0"/>
              </a:spcAft>
              <a:buClr>
                <a:schemeClr val="accent6"/>
              </a:buClr>
              <a:buSzPts val="2400"/>
              <a:buNone/>
              <a:defRPr sz="2400">
                <a:solidFill>
                  <a:schemeClr val="accent6"/>
                </a:solidFill>
              </a:defRPr>
            </a:lvl5pPr>
            <a:lvl6pPr lvl="5" rtl="0">
              <a:lnSpc>
                <a:spcPct val="100000"/>
              </a:lnSpc>
              <a:spcBef>
                <a:spcPts val="0"/>
              </a:spcBef>
              <a:spcAft>
                <a:spcPts val="0"/>
              </a:spcAft>
              <a:buClr>
                <a:schemeClr val="accent6"/>
              </a:buClr>
              <a:buSzPts val="2400"/>
              <a:buNone/>
              <a:defRPr sz="2400">
                <a:solidFill>
                  <a:schemeClr val="accent6"/>
                </a:solidFill>
              </a:defRPr>
            </a:lvl6pPr>
            <a:lvl7pPr lvl="6" rtl="0">
              <a:lnSpc>
                <a:spcPct val="100000"/>
              </a:lnSpc>
              <a:spcBef>
                <a:spcPts val="0"/>
              </a:spcBef>
              <a:spcAft>
                <a:spcPts val="0"/>
              </a:spcAft>
              <a:buClr>
                <a:schemeClr val="accent6"/>
              </a:buClr>
              <a:buSzPts val="2400"/>
              <a:buNone/>
              <a:defRPr sz="2400">
                <a:solidFill>
                  <a:schemeClr val="accent6"/>
                </a:solidFill>
              </a:defRPr>
            </a:lvl7pPr>
            <a:lvl8pPr lvl="7" rtl="0">
              <a:lnSpc>
                <a:spcPct val="100000"/>
              </a:lnSpc>
              <a:spcBef>
                <a:spcPts val="0"/>
              </a:spcBef>
              <a:spcAft>
                <a:spcPts val="0"/>
              </a:spcAft>
              <a:buClr>
                <a:schemeClr val="accent6"/>
              </a:buClr>
              <a:buSzPts val="2400"/>
              <a:buNone/>
              <a:defRPr sz="2400">
                <a:solidFill>
                  <a:schemeClr val="accent6"/>
                </a:solidFill>
              </a:defRPr>
            </a:lvl8pPr>
            <a:lvl9pPr lvl="8" rtl="0">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chemeClr val="accent6"/>
              </a:buClr>
              <a:buSzPts val="2100"/>
              <a:buNone/>
              <a:defRPr sz="2100">
                <a:solidFill>
                  <a:schemeClr val="accent6"/>
                </a:solidFill>
              </a:defRPr>
            </a:lvl1pPr>
            <a:lvl2pPr lvl="1" rtl="0" algn="ctr">
              <a:lnSpc>
                <a:spcPct val="100000"/>
              </a:lnSpc>
              <a:spcBef>
                <a:spcPts val="0"/>
              </a:spcBef>
              <a:spcAft>
                <a:spcPts val="0"/>
              </a:spcAft>
              <a:buClr>
                <a:schemeClr val="accent6"/>
              </a:buClr>
              <a:buSzPts val="2100"/>
              <a:buNone/>
              <a:defRPr sz="2100">
                <a:solidFill>
                  <a:schemeClr val="accent6"/>
                </a:solidFill>
              </a:defRPr>
            </a:lvl2pPr>
            <a:lvl3pPr lvl="2" rtl="0" algn="ctr">
              <a:lnSpc>
                <a:spcPct val="100000"/>
              </a:lnSpc>
              <a:spcBef>
                <a:spcPts val="0"/>
              </a:spcBef>
              <a:spcAft>
                <a:spcPts val="0"/>
              </a:spcAft>
              <a:buClr>
                <a:schemeClr val="accent6"/>
              </a:buClr>
              <a:buSzPts val="2100"/>
              <a:buNone/>
              <a:defRPr sz="2100">
                <a:solidFill>
                  <a:schemeClr val="accent6"/>
                </a:solidFill>
              </a:defRPr>
            </a:lvl3pPr>
            <a:lvl4pPr lvl="3" rtl="0" algn="ctr">
              <a:lnSpc>
                <a:spcPct val="100000"/>
              </a:lnSpc>
              <a:spcBef>
                <a:spcPts val="0"/>
              </a:spcBef>
              <a:spcAft>
                <a:spcPts val="0"/>
              </a:spcAft>
              <a:buClr>
                <a:schemeClr val="accent6"/>
              </a:buClr>
              <a:buSzPts val="2100"/>
              <a:buNone/>
              <a:defRPr sz="2100">
                <a:solidFill>
                  <a:schemeClr val="accent6"/>
                </a:solidFill>
              </a:defRPr>
            </a:lvl4pPr>
            <a:lvl5pPr lvl="4" rtl="0" algn="ctr">
              <a:lnSpc>
                <a:spcPct val="100000"/>
              </a:lnSpc>
              <a:spcBef>
                <a:spcPts val="0"/>
              </a:spcBef>
              <a:spcAft>
                <a:spcPts val="0"/>
              </a:spcAft>
              <a:buClr>
                <a:schemeClr val="accent6"/>
              </a:buClr>
              <a:buSzPts val="2100"/>
              <a:buNone/>
              <a:defRPr sz="2100">
                <a:solidFill>
                  <a:schemeClr val="accent6"/>
                </a:solidFill>
              </a:defRPr>
            </a:lvl5pPr>
            <a:lvl6pPr lvl="5" rtl="0" algn="ctr">
              <a:lnSpc>
                <a:spcPct val="100000"/>
              </a:lnSpc>
              <a:spcBef>
                <a:spcPts val="0"/>
              </a:spcBef>
              <a:spcAft>
                <a:spcPts val="0"/>
              </a:spcAft>
              <a:buClr>
                <a:schemeClr val="accent6"/>
              </a:buClr>
              <a:buSzPts val="2100"/>
              <a:buNone/>
              <a:defRPr sz="2100">
                <a:solidFill>
                  <a:schemeClr val="accent6"/>
                </a:solidFill>
              </a:defRPr>
            </a:lvl6pPr>
            <a:lvl7pPr lvl="6" rtl="0" algn="ctr">
              <a:lnSpc>
                <a:spcPct val="100000"/>
              </a:lnSpc>
              <a:spcBef>
                <a:spcPts val="0"/>
              </a:spcBef>
              <a:spcAft>
                <a:spcPts val="0"/>
              </a:spcAft>
              <a:buClr>
                <a:schemeClr val="accent6"/>
              </a:buClr>
              <a:buSzPts val="2100"/>
              <a:buNone/>
              <a:defRPr sz="2100">
                <a:solidFill>
                  <a:schemeClr val="accent6"/>
                </a:solidFill>
              </a:defRPr>
            </a:lvl7pPr>
            <a:lvl8pPr lvl="7" rtl="0" algn="ctr">
              <a:lnSpc>
                <a:spcPct val="100000"/>
              </a:lnSpc>
              <a:spcBef>
                <a:spcPts val="0"/>
              </a:spcBef>
              <a:spcAft>
                <a:spcPts val="0"/>
              </a:spcAft>
              <a:buClr>
                <a:schemeClr val="accent6"/>
              </a:buClr>
              <a:buSzPts val="2100"/>
              <a:buNone/>
              <a:defRPr sz="2100">
                <a:solidFill>
                  <a:schemeClr val="accent6"/>
                </a:solidFill>
              </a:defRPr>
            </a:lvl8pPr>
            <a:lvl9pPr lvl="8" rtl="0"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accent1"/>
              </a:buClr>
              <a:buSzPts val="1800"/>
              <a:buChar char="●"/>
              <a:defRPr>
                <a:solidFill>
                  <a:schemeClr val="accent1"/>
                </a:solidFill>
              </a:defRPr>
            </a:lvl1pPr>
            <a:lvl2pPr indent="-317500" lvl="1" marL="914400" rtl="0">
              <a:spcBef>
                <a:spcPts val="0"/>
              </a:spcBef>
              <a:spcAft>
                <a:spcPts val="0"/>
              </a:spcAft>
              <a:buClr>
                <a:schemeClr val="accent1"/>
              </a:buClr>
              <a:buSzPts val="1400"/>
              <a:buChar char="○"/>
              <a:defRPr>
                <a:solidFill>
                  <a:schemeClr val="accent1"/>
                </a:solidFill>
              </a:defRPr>
            </a:lvl2pPr>
            <a:lvl3pPr indent="-317500" lvl="2" marL="1371600" rtl="0">
              <a:spcBef>
                <a:spcPts val="0"/>
              </a:spcBef>
              <a:spcAft>
                <a:spcPts val="0"/>
              </a:spcAft>
              <a:buClr>
                <a:schemeClr val="accent1"/>
              </a:buClr>
              <a:buSzPts val="1400"/>
              <a:buChar char="■"/>
              <a:defRPr>
                <a:solidFill>
                  <a:schemeClr val="accent1"/>
                </a:solidFill>
              </a:defRPr>
            </a:lvl3pPr>
            <a:lvl4pPr indent="-317500" lvl="3" marL="1828800" rtl="0">
              <a:spcBef>
                <a:spcPts val="0"/>
              </a:spcBef>
              <a:spcAft>
                <a:spcPts val="0"/>
              </a:spcAft>
              <a:buClr>
                <a:schemeClr val="accent1"/>
              </a:buClr>
              <a:buSzPts val="1400"/>
              <a:buChar char="●"/>
              <a:defRPr>
                <a:solidFill>
                  <a:schemeClr val="accent1"/>
                </a:solidFill>
              </a:defRPr>
            </a:lvl4pPr>
            <a:lvl5pPr indent="-317500" lvl="4" marL="2286000" rtl="0">
              <a:spcBef>
                <a:spcPts val="0"/>
              </a:spcBef>
              <a:spcAft>
                <a:spcPts val="0"/>
              </a:spcAft>
              <a:buClr>
                <a:schemeClr val="accent1"/>
              </a:buClr>
              <a:buSzPts val="1400"/>
              <a:buChar char="○"/>
              <a:defRPr>
                <a:solidFill>
                  <a:schemeClr val="accent1"/>
                </a:solidFill>
              </a:defRPr>
            </a:lvl5pPr>
            <a:lvl6pPr indent="-317500" lvl="5" marL="2743200" rtl="0">
              <a:spcBef>
                <a:spcPts val="0"/>
              </a:spcBef>
              <a:spcAft>
                <a:spcPts val="0"/>
              </a:spcAft>
              <a:buClr>
                <a:schemeClr val="accent1"/>
              </a:buClr>
              <a:buSzPts val="1400"/>
              <a:buChar char="■"/>
              <a:defRPr>
                <a:solidFill>
                  <a:schemeClr val="accent1"/>
                </a:solidFill>
              </a:defRPr>
            </a:lvl6pPr>
            <a:lvl7pPr indent="-317500" lvl="6" marL="3200400" rtl="0">
              <a:spcBef>
                <a:spcPts val="0"/>
              </a:spcBef>
              <a:spcAft>
                <a:spcPts val="0"/>
              </a:spcAft>
              <a:buClr>
                <a:schemeClr val="accent1"/>
              </a:buClr>
              <a:buSzPts val="1400"/>
              <a:buChar char="●"/>
              <a:defRPr>
                <a:solidFill>
                  <a:schemeClr val="accent1"/>
                </a:solidFill>
              </a:defRPr>
            </a:lvl7pPr>
            <a:lvl8pPr indent="-317500" lvl="7" marL="3657600" rtl="0">
              <a:spcBef>
                <a:spcPts val="0"/>
              </a:spcBef>
              <a:spcAft>
                <a:spcPts val="0"/>
              </a:spcAft>
              <a:buClr>
                <a:schemeClr val="accent1"/>
              </a:buClr>
              <a:buSzPts val="1400"/>
              <a:buChar char="○"/>
              <a:defRPr>
                <a:solidFill>
                  <a:schemeClr val="accent1"/>
                </a:solidFill>
              </a:defRPr>
            </a:lvl8pPr>
            <a:lvl9pPr indent="-317500" lvl="8" marL="4114800" rtl="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6"/>
              </a:buClr>
              <a:buSzPts val="10800"/>
              <a:buNone/>
              <a:defRPr sz="10800">
                <a:solidFill>
                  <a:schemeClr val="accent6"/>
                </a:solidFill>
              </a:defRPr>
            </a:lvl1pPr>
            <a:lvl2pPr lvl="1" rtl="0" algn="ctr">
              <a:spcBef>
                <a:spcPts val="0"/>
              </a:spcBef>
              <a:spcAft>
                <a:spcPts val="0"/>
              </a:spcAft>
              <a:buClr>
                <a:schemeClr val="accent6"/>
              </a:buClr>
              <a:buSzPts val="10800"/>
              <a:buNone/>
              <a:defRPr sz="10800">
                <a:solidFill>
                  <a:schemeClr val="accent6"/>
                </a:solidFill>
              </a:defRPr>
            </a:lvl2pPr>
            <a:lvl3pPr lvl="2" rtl="0" algn="ctr">
              <a:spcBef>
                <a:spcPts val="0"/>
              </a:spcBef>
              <a:spcAft>
                <a:spcPts val="0"/>
              </a:spcAft>
              <a:buClr>
                <a:schemeClr val="accent6"/>
              </a:buClr>
              <a:buSzPts val="10800"/>
              <a:buNone/>
              <a:defRPr sz="10800">
                <a:solidFill>
                  <a:schemeClr val="accent6"/>
                </a:solidFill>
              </a:defRPr>
            </a:lvl3pPr>
            <a:lvl4pPr lvl="3" rtl="0" algn="ctr">
              <a:spcBef>
                <a:spcPts val="0"/>
              </a:spcBef>
              <a:spcAft>
                <a:spcPts val="0"/>
              </a:spcAft>
              <a:buClr>
                <a:schemeClr val="accent6"/>
              </a:buClr>
              <a:buSzPts val="10800"/>
              <a:buNone/>
              <a:defRPr sz="10800">
                <a:solidFill>
                  <a:schemeClr val="accent6"/>
                </a:solidFill>
              </a:defRPr>
            </a:lvl4pPr>
            <a:lvl5pPr lvl="4" rtl="0" algn="ctr">
              <a:spcBef>
                <a:spcPts val="0"/>
              </a:spcBef>
              <a:spcAft>
                <a:spcPts val="0"/>
              </a:spcAft>
              <a:buClr>
                <a:schemeClr val="accent6"/>
              </a:buClr>
              <a:buSzPts val="10800"/>
              <a:buNone/>
              <a:defRPr sz="10800">
                <a:solidFill>
                  <a:schemeClr val="accent6"/>
                </a:solidFill>
              </a:defRPr>
            </a:lvl5pPr>
            <a:lvl6pPr lvl="5" rtl="0" algn="ctr">
              <a:spcBef>
                <a:spcPts val="0"/>
              </a:spcBef>
              <a:spcAft>
                <a:spcPts val="0"/>
              </a:spcAft>
              <a:buClr>
                <a:schemeClr val="accent6"/>
              </a:buClr>
              <a:buSzPts val="10800"/>
              <a:buNone/>
              <a:defRPr sz="10800">
                <a:solidFill>
                  <a:schemeClr val="accent6"/>
                </a:solidFill>
              </a:defRPr>
            </a:lvl6pPr>
            <a:lvl7pPr lvl="6" rtl="0" algn="ctr">
              <a:spcBef>
                <a:spcPts val="0"/>
              </a:spcBef>
              <a:spcAft>
                <a:spcPts val="0"/>
              </a:spcAft>
              <a:buClr>
                <a:schemeClr val="accent6"/>
              </a:buClr>
              <a:buSzPts val="10800"/>
              <a:buNone/>
              <a:defRPr sz="10800">
                <a:solidFill>
                  <a:schemeClr val="accent6"/>
                </a:solidFill>
              </a:defRPr>
            </a:lvl7pPr>
            <a:lvl8pPr lvl="7" rtl="0" algn="ctr">
              <a:spcBef>
                <a:spcPts val="0"/>
              </a:spcBef>
              <a:spcAft>
                <a:spcPts val="0"/>
              </a:spcAft>
              <a:buClr>
                <a:schemeClr val="accent6"/>
              </a:buClr>
              <a:buSzPts val="10800"/>
              <a:buNone/>
              <a:defRPr sz="10800">
                <a:solidFill>
                  <a:schemeClr val="accent6"/>
                </a:solidFill>
              </a:defRPr>
            </a:lvl8pPr>
            <a:lvl9pPr lvl="8" rtl="0"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rt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rtl="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1"/>
                </a:solidFill>
                <a:latin typeface="Lato"/>
                <a:ea typeface="Lato"/>
                <a:cs typeface="Lato"/>
                <a:sym typeface="Lato"/>
              </a:defRPr>
            </a:lvl1pPr>
            <a:lvl2pPr lvl="1" rtl="0" algn="r">
              <a:buNone/>
              <a:defRPr sz="1000">
                <a:solidFill>
                  <a:schemeClr val="dk1"/>
                </a:solidFill>
                <a:latin typeface="Lato"/>
                <a:ea typeface="Lato"/>
                <a:cs typeface="Lato"/>
                <a:sym typeface="Lato"/>
              </a:defRPr>
            </a:lvl2pPr>
            <a:lvl3pPr lvl="2" rtl="0" algn="r">
              <a:buNone/>
              <a:defRPr sz="1000">
                <a:solidFill>
                  <a:schemeClr val="dk1"/>
                </a:solidFill>
                <a:latin typeface="Lato"/>
                <a:ea typeface="Lato"/>
                <a:cs typeface="Lato"/>
                <a:sym typeface="Lato"/>
              </a:defRPr>
            </a:lvl3pPr>
            <a:lvl4pPr lvl="3" rtl="0" algn="r">
              <a:buNone/>
              <a:defRPr sz="1000">
                <a:solidFill>
                  <a:schemeClr val="dk1"/>
                </a:solidFill>
                <a:latin typeface="Lato"/>
                <a:ea typeface="Lato"/>
                <a:cs typeface="Lato"/>
                <a:sym typeface="Lato"/>
              </a:defRPr>
            </a:lvl4pPr>
            <a:lvl5pPr lvl="4" rtl="0" algn="r">
              <a:buNone/>
              <a:defRPr sz="1000">
                <a:solidFill>
                  <a:schemeClr val="dk1"/>
                </a:solidFill>
                <a:latin typeface="Lato"/>
                <a:ea typeface="Lato"/>
                <a:cs typeface="Lato"/>
                <a:sym typeface="Lato"/>
              </a:defRPr>
            </a:lvl5pPr>
            <a:lvl6pPr lvl="5" rtl="0" algn="r">
              <a:buNone/>
              <a:defRPr sz="1000">
                <a:solidFill>
                  <a:schemeClr val="dk1"/>
                </a:solidFill>
                <a:latin typeface="Lato"/>
                <a:ea typeface="Lato"/>
                <a:cs typeface="Lato"/>
                <a:sym typeface="Lato"/>
              </a:defRPr>
            </a:lvl6pPr>
            <a:lvl7pPr lvl="6" rtl="0" algn="r">
              <a:buNone/>
              <a:defRPr sz="1000">
                <a:solidFill>
                  <a:schemeClr val="dk1"/>
                </a:solidFill>
                <a:latin typeface="Lato"/>
                <a:ea typeface="Lato"/>
                <a:cs typeface="Lato"/>
                <a:sym typeface="Lato"/>
              </a:defRPr>
            </a:lvl7pPr>
            <a:lvl8pPr lvl="7" rtl="0" algn="r">
              <a:buNone/>
              <a:defRPr sz="1000">
                <a:solidFill>
                  <a:schemeClr val="dk1"/>
                </a:solidFill>
                <a:latin typeface="Lato"/>
                <a:ea typeface="Lato"/>
                <a:cs typeface="Lato"/>
                <a:sym typeface="Lato"/>
              </a:defRPr>
            </a:lvl8pPr>
            <a:lvl9pPr lvl="8" rtl="0"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a:off x="4493475" y="1340975"/>
            <a:ext cx="4372200" cy="2240100"/>
          </a:xfrm>
          <a:prstGeom prst="rect">
            <a:avLst/>
          </a:prstGeom>
        </p:spPr>
        <p:txBody>
          <a:bodyPr anchorCtr="0" anchor="b" bIns="91425" lIns="91425" spcFirstLastPara="1" rIns="91425" wrap="square" tIns="91425">
            <a:noAutofit/>
          </a:bodyPr>
          <a:lstStyle/>
          <a:p>
            <a:pPr indent="0" lvl="0" marL="0" rtl="0" algn="l">
              <a:spcBef>
                <a:spcPts val="1000"/>
              </a:spcBef>
              <a:spcAft>
                <a:spcPts val="0"/>
              </a:spcAft>
              <a:buNone/>
            </a:pPr>
            <a:r>
              <a:rPr lang="fr" sz="2900"/>
              <a:t>Analysez des indicateurs de l'égalité femmes/hommes en respect du RGPD</a:t>
            </a:r>
            <a:endParaRPr sz="2900"/>
          </a:p>
        </p:txBody>
      </p:sp>
      <p:sp>
        <p:nvSpPr>
          <p:cNvPr id="69" name="Google Shape;69;p13"/>
          <p:cNvSpPr txBox="1"/>
          <p:nvPr>
            <p:ph idx="1" type="subTitle"/>
          </p:nvPr>
        </p:nvSpPr>
        <p:spPr>
          <a:xfrm>
            <a:off x="182625" y="4409500"/>
            <a:ext cx="3604500" cy="5673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fr" sz="1800"/>
              <a:t>POIRIER PIERRE-MARIE</a:t>
            </a:r>
            <a:endParaRPr sz="1800"/>
          </a:p>
        </p:txBody>
      </p:sp>
      <p:pic>
        <p:nvPicPr>
          <p:cNvPr id="70" name="Google Shape;70;p13"/>
          <p:cNvPicPr preferRelativeResize="0"/>
          <p:nvPr/>
        </p:nvPicPr>
        <p:blipFill rotWithShape="1">
          <a:blip r:embed="rId3">
            <a:alphaModFix/>
          </a:blip>
          <a:srcRect b="0" l="11642" r="10061" t="0"/>
          <a:stretch/>
        </p:blipFill>
        <p:spPr>
          <a:xfrm>
            <a:off x="182625" y="1210098"/>
            <a:ext cx="4264225" cy="27232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967500" y="2334575"/>
            <a:ext cx="3604500" cy="18537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fr"/>
              <a:t>Contexte du Projet</a:t>
            </a:r>
            <a:endParaRPr/>
          </a:p>
        </p:txBody>
      </p:sp>
      <p:pic>
        <p:nvPicPr>
          <p:cNvPr id="76" name="Google Shape;76;p14"/>
          <p:cNvPicPr preferRelativeResize="0"/>
          <p:nvPr/>
        </p:nvPicPr>
        <p:blipFill>
          <a:blip r:embed="rId3">
            <a:alphaModFix/>
          </a:blip>
          <a:stretch>
            <a:fillRect/>
          </a:stretch>
        </p:blipFill>
        <p:spPr>
          <a:xfrm>
            <a:off x="4954878" y="0"/>
            <a:ext cx="4189122"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Contexte</a:t>
            </a:r>
            <a:endParaRPr/>
          </a:p>
        </p:txBody>
      </p:sp>
      <p:sp>
        <p:nvSpPr>
          <p:cNvPr id="82" name="Google Shape;82;p15"/>
          <p:cNvSpPr txBox="1"/>
          <p:nvPr>
            <p:ph idx="1" type="body"/>
          </p:nvPr>
        </p:nvSpPr>
        <p:spPr>
          <a:xfrm>
            <a:off x="311700" y="1417800"/>
            <a:ext cx="5438100" cy="315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Société de moins de 250 salariés en pleine croissance qui veut promouvoir l’égalité femme homme pour améliorer l’image employeur.</a:t>
            </a:r>
            <a:endParaRPr/>
          </a:p>
          <a:p>
            <a:pPr indent="-342900" lvl="0" marL="457200" rtl="0" algn="l">
              <a:spcBef>
                <a:spcPts val="0"/>
              </a:spcBef>
              <a:spcAft>
                <a:spcPts val="0"/>
              </a:spcAft>
              <a:buSzPts val="1800"/>
              <a:buChar char="-"/>
            </a:pPr>
            <a:r>
              <a:rPr lang="fr"/>
              <a:t>Création d’un rapport sur l’égalité femme/homme à partir des données de l’entreprise (SIRH)</a:t>
            </a:r>
            <a:endParaRPr/>
          </a:p>
          <a:p>
            <a:pPr indent="-342900" lvl="0" marL="457200" rtl="0" algn="l">
              <a:spcBef>
                <a:spcPts val="0"/>
              </a:spcBef>
              <a:spcAft>
                <a:spcPts val="0"/>
              </a:spcAft>
              <a:buSzPts val="1800"/>
              <a:buChar char="-"/>
            </a:pPr>
            <a:r>
              <a:rPr lang="fr"/>
              <a:t>Utilisation de Knime pour nettoyer et anonymiser les données</a:t>
            </a:r>
            <a:endParaRPr/>
          </a:p>
        </p:txBody>
      </p:sp>
      <p:sp>
        <p:nvSpPr>
          <p:cNvPr id="83" name="Google Shape;8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84" name="Google Shape;84;p15"/>
          <p:cNvPicPr preferRelativeResize="0"/>
          <p:nvPr/>
        </p:nvPicPr>
        <p:blipFill>
          <a:blip r:embed="rId3">
            <a:alphaModFix/>
          </a:blip>
          <a:stretch>
            <a:fillRect/>
          </a:stretch>
        </p:blipFill>
        <p:spPr>
          <a:xfrm>
            <a:off x="5724775" y="1188663"/>
            <a:ext cx="3296376" cy="330363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Préparation des données</a:t>
            </a:r>
            <a:endParaRPr/>
          </a:p>
        </p:txBody>
      </p:sp>
      <p:sp>
        <p:nvSpPr>
          <p:cNvPr id="90" name="Google Shape;90;p16"/>
          <p:cNvSpPr txBox="1"/>
          <p:nvPr>
            <p:ph idx="1" type="body"/>
          </p:nvPr>
        </p:nvSpPr>
        <p:spPr>
          <a:xfrm>
            <a:off x="311750" y="4018225"/>
            <a:ext cx="4351800" cy="963900"/>
          </a:xfrm>
          <a:prstGeom prst="rect">
            <a:avLst/>
          </a:prstGeom>
        </p:spPr>
        <p:txBody>
          <a:bodyPr anchorCtr="0" anchor="t" bIns="91425" lIns="91425" spcFirstLastPara="1" rIns="91425" wrap="square" tIns="91425">
            <a:normAutofit fontScale="85000"/>
          </a:bodyPr>
          <a:lstStyle/>
          <a:p>
            <a:pPr indent="0" lvl="0" marL="0" rtl="0" algn="l">
              <a:lnSpc>
                <a:spcPct val="100000"/>
              </a:lnSpc>
              <a:spcBef>
                <a:spcPts val="0"/>
              </a:spcBef>
              <a:spcAft>
                <a:spcPts val="0"/>
              </a:spcAft>
              <a:buNone/>
            </a:pPr>
            <a:r>
              <a:rPr lang="fr"/>
              <a:t>- A</a:t>
            </a:r>
            <a:r>
              <a:rPr lang="fr"/>
              <a:t>nonymisation = suppression des colonnes id_salarié, nom/prénom, </a:t>
            </a:r>
            <a:r>
              <a:rPr lang="fr"/>
              <a:t>État</a:t>
            </a:r>
            <a:r>
              <a:rPr lang="fr"/>
              <a:t> civil et téléphone</a:t>
            </a:r>
            <a:endParaRPr/>
          </a:p>
          <a:p>
            <a:pPr indent="0" lvl="0" marL="0" rtl="0" algn="l">
              <a:lnSpc>
                <a:spcPct val="100000"/>
              </a:lnSpc>
              <a:spcBef>
                <a:spcPts val="0"/>
              </a:spcBef>
              <a:spcAft>
                <a:spcPts val="0"/>
              </a:spcAft>
              <a:buNone/>
            </a:pPr>
            <a:r>
              <a:rPr lang="fr"/>
              <a:t>- Transformation date de naissance en </a:t>
            </a:r>
            <a:r>
              <a:rPr lang="fr"/>
              <a:t>âge</a:t>
            </a:r>
            <a:endParaRPr/>
          </a:p>
        </p:txBody>
      </p:sp>
      <p:sp>
        <p:nvSpPr>
          <p:cNvPr id="91" name="Google Shape;91;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92" name="Google Shape;92;p16"/>
          <p:cNvPicPr preferRelativeResize="0"/>
          <p:nvPr/>
        </p:nvPicPr>
        <p:blipFill>
          <a:blip r:embed="rId3">
            <a:alphaModFix/>
          </a:blip>
          <a:stretch>
            <a:fillRect/>
          </a:stretch>
        </p:blipFill>
        <p:spPr>
          <a:xfrm>
            <a:off x="311700" y="1261325"/>
            <a:ext cx="7933901" cy="2620856"/>
          </a:xfrm>
          <a:prstGeom prst="rect">
            <a:avLst/>
          </a:prstGeom>
          <a:noFill/>
          <a:ln>
            <a:noFill/>
          </a:ln>
        </p:spPr>
      </p:pic>
      <p:sp>
        <p:nvSpPr>
          <p:cNvPr id="93" name="Google Shape;93;p16"/>
          <p:cNvSpPr txBox="1"/>
          <p:nvPr>
            <p:ph idx="1" type="body"/>
          </p:nvPr>
        </p:nvSpPr>
        <p:spPr>
          <a:xfrm>
            <a:off x="4883700" y="4018225"/>
            <a:ext cx="4260300" cy="963900"/>
          </a:xfrm>
          <a:prstGeom prst="rect">
            <a:avLst/>
          </a:prstGeom>
        </p:spPr>
        <p:txBody>
          <a:bodyPr anchorCtr="0" anchor="t" bIns="91425" lIns="91425" spcFirstLastPara="1" rIns="91425" wrap="square" tIns="91425">
            <a:normAutofit fontScale="85000" lnSpcReduction="20000"/>
          </a:bodyPr>
          <a:lstStyle/>
          <a:p>
            <a:pPr indent="0" lvl="0" marL="0" rtl="0" algn="l">
              <a:lnSpc>
                <a:spcPct val="100000"/>
              </a:lnSpc>
              <a:spcBef>
                <a:spcPts val="0"/>
              </a:spcBef>
              <a:spcAft>
                <a:spcPts val="0"/>
              </a:spcAft>
              <a:buNone/>
            </a:pPr>
            <a:r>
              <a:rPr lang="fr"/>
              <a:t>- Ajout d’un nouvel id : row_id</a:t>
            </a:r>
            <a:endParaRPr/>
          </a:p>
          <a:p>
            <a:pPr indent="0" lvl="0" marL="0" rtl="0" algn="l">
              <a:lnSpc>
                <a:spcPct val="100000"/>
              </a:lnSpc>
              <a:spcBef>
                <a:spcPts val="0"/>
              </a:spcBef>
              <a:spcAft>
                <a:spcPts val="0"/>
              </a:spcAft>
              <a:buNone/>
            </a:pPr>
            <a:r>
              <a:rPr lang="fr"/>
              <a:t>- Calcul du salaire EQTP</a:t>
            </a:r>
            <a:endParaRPr/>
          </a:p>
          <a:p>
            <a:pPr indent="0" lvl="0" marL="0" rtl="0" algn="l">
              <a:lnSpc>
                <a:spcPct val="100000"/>
              </a:lnSpc>
              <a:spcBef>
                <a:spcPts val="0"/>
              </a:spcBef>
              <a:spcAft>
                <a:spcPts val="0"/>
              </a:spcAft>
              <a:buNone/>
            </a:pPr>
            <a:r>
              <a:rPr lang="fr"/>
              <a:t>- Ajout des tranches </a:t>
            </a:r>
            <a:r>
              <a:rPr lang="fr"/>
              <a:t>d'âges</a:t>
            </a:r>
            <a:r>
              <a:rPr lang="fr"/>
              <a:t> et de salaire</a:t>
            </a:r>
            <a:endParaRPr/>
          </a:p>
          <a:p>
            <a:pPr indent="0" lvl="0" marL="0" rtl="0" algn="l">
              <a:lnSpc>
                <a:spcPct val="100000"/>
              </a:lnSpc>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Données anonymisées et création des charts</a:t>
            </a:r>
            <a:endParaRPr/>
          </a:p>
        </p:txBody>
      </p:sp>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100" name="Google Shape;100;p17"/>
          <p:cNvSpPr txBox="1"/>
          <p:nvPr>
            <p:ph idx="1" type="body"/>
          </p:nvPr>
        </p:nvSpPr>
        <p:spPr>
          <a:xfrm>
            <a:off x="3857225" y="3282500"/>
            <a:ext cx="4874100" cy="11685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lang="fr"/>
              <a:t>- </a:t>
            </a:r>
            <a:r>
              <a:rPr lang="fr"/>
              <a:t>pivot sur sexe et group sur la dimension souhaitée</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fr"/>
              <a:t>- </a:t>
            </a:r>
            <a:r>
              <a:rPr lang="fr"/>
              <a:t>export en .csv possible</a:t>
            </a:r>
            <a:endParaRPr/>
          </a:p>
        </p:txBody>
      </p:sp>
      <p:pic>
        <p:nvPicPr>
          <p:cNvPr id="101" name="Google Shape;101;p17"/>
          <p:cNvPicPr preferRelativeResize="0"/>
          <p:nvPr/>
        </p:nvPicPr>
        <p:blipFill>
          <a:blip r:embed="rId3">
            <a:alphaModFix/>
          </a:blip>
          <a:stretch>
            <a:fillRect/>
          </a:stretch>
        </p:blipFill>
        <p:spPr>
          <a:xfrm>
            <a:off x="47125" y="884275"/>
            <a:ext cx="7248749" cy="2013525"/>
          </a:xfrm>
          <a:prstGeom prst="rect">
            <a:avLst/>
          </a:prstGeom>
          <a:noFill/>
          <a:ln>
            <a:noFill/>
          </a:ln>
        </p:spPr>
      </p:pic>
      <p:pic>
        <p:nvPicPr>
          <p:cNvPr id="102" name="Google Shape;102;p17"/>
          <p:cNvPicPr preferRelativeResize="0"/>
          <p:nvPr/>
        </p:nvPicPr>
        <p:blipFill>
          <a:blip r:embed="rId4">
            <a:alphaModFix/>
          </a:blip>
          <a:stretch>
            <a:fillRect/>
          </a:stretch>
        </p:blipFill>
        <p:spPr>
          <a:xfrm>
            <a:off x="70825" y="2948275"/>
            <a:ext cx="3129549" cy="20793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Répartition H/F par tranche de salaire</a:t>
            </a:r>
            <a:endParaRPr/>
          </a:p>
        </p:txBody>
      </p:sp>
      <p:sp>
        <p:nvSpPr>
          <p:cNvPr id="108" name="Google Shape;108;p18"/>
          <p:cNvSpPr txBox="1"/>
          <p:nvPr>
            <p:ph idx="1" type="body"/>
          </p:nvPr>
        </p:nvSpPr>
        <p:spPr>
          <a:xfrm>
            <a:off x="5383450" y="1417800"/>
            <a:ext cx="3448800" cy="3150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1200"/>
              </a:spcAft>
              <a:buNone/>
            </a:pPr>
            <a:r>
              <a:rPr lang="fr"/>
              <a:t>Il existe une véritable inégalité dans l'accès aux hauts salaires. En effet, dans la tranche des personnes ayant un salaire supérieur à 150 000 €, il n'y a qu'une femme sur six salariés. Dans la tranche de 115 000 € à 150 000 €, nous observons également un écart entre les hommes et les femmes : 8,6 % des femmes contre 10,9 % des hommes.</a:t>
            </a: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10" name="Google Shape;110;p18"/>
          <p:cNvPicPr preferRelativeResize="0"/>
          <p:nvPr/>
        </p:nvPicPr>
        <p:blipFill>
          <a:blip r:embed="rId3">
            <a:alphaModFix/>
          </a:blip>
          <a:stretch>
            <a:fillRect/>
          </a:stretch>
        </p:blipFill>
        <p:spPr>
          <a:xfrm>
            <a:off x="152400" y="1170125"/>
            <a:ext cx="4869620"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fr" sz="2580"/>
              <a:t>Répartition F/H sur la durée hebdo du contrat</a:t>
            </a:r>
            <a:endParaRPr sz="2580"/>
          </a:p>
        </p:txBody>
      </p:sp>
      <p:sp>
        <p:nvSpPr>
          <p:cNvPr id="116" name="Google Shape;11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17" name="Google Shape;117;p19"/>
          <p:cNvPicPr preferRelativeResize="0"/>
          <p:nvPr/>
        </p:nvPicPr>
        <p:blipFill>
          <a:blip r:embed="rId3">
            <a:alphaModFix/>
          </a:blip>
          <a:stretch>
            <a:fillRect/>
          </a:stretch>
        </p:blipFill>
        <p:spPr>
          <a:xfrm>
            <a:off x="152400" y="1170125"/>
            <a:ext cx="4476845" cy="3820975"/>
          </a:xfrm>
          <a:prstGeom prst="rect">
            <a:avLst/>
          </a:prstGeom>
          <a:noFill/>
          <a:ln>
            <a:noFill/>
          </a:ln>
        </p:spPr>
      </p:pic>
      <p:sp>
        <p:nvSpPr>
          <p:cNvPr id="118" name="Google Shape;118;p19"/>
          <p:cNvSpPr txBox="1"/>
          <p:nvPr/>
        </p:nvSpPr>
        <p:spPr>
          <a:xfrm>
            <a:off x="5112450" y="1832850"/>
            <a:ext cx="39087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1"/>
                </a:solidFill>
                <a:latin typeface="Lato"/>
                <a:ea typeface="Lato"/>
                <a:cs typeface="Lato"/>
                <a:sym typeface="Lato"/>
              </a:rPr>
              <a:t>Pas d’écart significatif entre les homme et les femmes</a:t>
            </a:r>
            <a:endParaRPr sz="1800">
              <a:solidFill>
                <a:schemeClr val="dk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fr" sz="2580"/>
              <a:t>Répartition F/H par tranche d’ancienneté</a:t>
            </a:r>
            <a:endParaRPr sz="2580"/>
          </a:p>
        </p:txBody>
      </p:sp>
      <p:sp>
        <p:nvSpPr>
          <p:cNvPr id="124" name="Google Shape;12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25" name="Google Shape;125;p20"/>
          <p:cNvPicPr preferRelativeResize="0"/>
          <p:nvPr/>
        </p:nvPicPr>
        <p:blipFill>
          <a:blip r:embed="rId3">
            <a:alphaModFix/>
          </a:blip>
          <a:stretch>
            <a:fillRect/>
          </a:stretch>
        </p:blipFill>
        <p:spPr>
          <a:xfrm>
            <a:off x="152400" y="1170125"/>
            <a:ext cx="4834969" cy="3820975"/>
          </a:xfrm>
          <a:prstGeom prst="rect">
            <a:avLst/>
          </a:prstGeom>
          <a:noFill/>
          <a:ln>
            <a:noFill/>
          </a:ln>
        </p:spPr>
      </p:pic>
      <p:sp>
        <p:nvSpPr>
          <p:cNvPr id="126" name="Google Shape;126;p20"/>
          <p:cNvSpPr txBox="1"/>
          <p:nvPr/>
        </p:nvSpPr>
        <p:spPr>
          <a:xfrm>
            <a:off x="5147850" y="1010325"/>
            <a:ext cx="38736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1"/>
                </a:solidFill>
                <a:latin typeface="Lato"/>
                <a:ea typeface="Lato"/>
                <a:cs typeface="Lato"/>
                <a:sym typeface="Lato"/>
              </a:rPr>
              <a:t>On observe une répartition inégale entre les femmes et les hommes en termes d'ancienneté. L'ancienneté plus importante des hommes peut expliquer les inégalités salariales entre les femmes et les hommes ainsi que l'accès aux postes à haute responsabilité. </a:t>
            </a:r>
            <a:endParaRPr sz="1800">
              <a:solidFill>
                <a:schemeClr val="dk1"/>
              </a:solidFill>
              <a:latin typeface="Lato"/>
              <a:ea typeface="Lato"/>
              <a:cs typeface="Lato"/>
              <a:sym typeface="Lato"/>
            </a:endParaRPr>
          </a:p>
          <a:p>
            <a:pPr indent="0" lvl="0" marL="0" rtl="0" algn="l">
              <a:spcBef>
                <a:spcPts val="0"/>
              </a:spcBef>
              <a:spcAft>
                <a:spcPts val="0"/>
              </a:spcAft>
              <a:buNone/>
            </a:pPr>
            <a:r>
              <a:rPr lang="fr" sz="1800">
                <a:solidFill>
                  <a:schemeClr val="dk1"/>
                </a:solidFill>
                <a:latin typeface="Lato"/>
                <a:ea typeface="Lato"/>
                <a:cs typeface="Lato"/>
                <a:sym typeface="Lato"/>
              </a:rPr>
              <a:t>Le fait qu'il y ait davantage de femmes ayant entre 0 et 5 ans d'ancienneté montre que l'entreprise a une volonté de réduire ces écarts depuis 3 à 4 ans.</a:t>
            </a:r>
            <a:endParaRPr sz="1800">
              <a:solidFill>
                <a:schemeClr val="dk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Répartition H/F par type de contrat</a:t>
            </a:r>
            <a:endParaRPr/>
          </a:p>
        </p:txBody>
      </p:sp>
      <p:sp>
        <p:nvSpPr>
          <p:cNvPr id="132" name="Google Shape;132;p21"/>
          <p:cNvSpPr txBox="1"/>
          <p:nvPr>
            <p:ph idx="1" type="body"/>
          </p:nvPr>
        </p:nvSpPr>
        <p:spPr>
          <a:xfrm>
            <a:off x="5383450" y="1417800"/>
            <a:ext cx="34488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L'inégalité est assez faible en ce qui concerne l'accès au CDI, légèrement en faveur des hommes.</a:t>
            </a:r>
            <a:endParaRPr/>
          </a:p>
          <a:p>
            <a:pPr indent="0" lvl="0" marL="0" rtl="0" algn="l">
              <a:spcBef>
                <a:spcPts val="1200"/>
              </a:spcBef>
              <a:spcAft>
                <a:spcPts val="1200"/>
              </a:spcAft>
              <a:buNone/>
            </a:pPr>
            <a:r>
              <a:rPr lang="fr"/>
              <a:t> L'ancienneté nous montre que de plus en plus de femmes sont recrutées.</a:t>
            </a:r>
            <a:endParaRPr/>
          </a:p>
        </p:txBody>
      </p:sp>
      <p:sp>
        <p:nvSpPr>
          <p:cNvPr id="133" name="Google Shape;13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34" name="Google Shape;134;p21"/>
          <p:cNvPicPr preferRelativeResize="0"/>
          <p:nvPr/>
        </p:nvPicPr>
        <p:blipFill>
          <a:blip r:embed="rId3">
            <a:alphaModFix/>
          </a:blip>
          <a:stretch>
            <a:fillRect/>
          </a:stretch>
        </p:blipFill>
        <p:spPr>
          <a:xfrm>
            <a:off x="152400" y="1170125"/>
            <a:ext cx="5078650" cy="37958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2"/>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Répartition H/F par service</a:t>
            </a:r>
            <a:endParaRPr/>
          </a:p>
        </p:txBody>
      </p:sp>
      <p:sp>
        <p:nvSpPr>
          <p:cNvPr id="140" name="Google Shape;140;p22"/>
          <p:cNvSpPr txBox="1"/>
          <p:nvPr>
            <p:ph idx="1" type="body"/>
          </p:nvPr>
        </p:nvSpPr>
        <p:spPr>
          <a:xfrm>
            <a:off x="5383450" y="1417800"/>
            <a:ext cx="34488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Il y a plus d'hommes dans les services les plus rémunérateurs tels que le consulting, l'informatique et le marketing, par rapport aux services comme le commercial, la comptabilité et les ressources humaines.</a:t>
            </a:r>
            <a:endParaRPr/>
          </a:p>
        </p:txBody>
      </p:sp>
      <p:sp>
        <p:nvSpPr>
          <p:cNvPr id="141" name="Google Shape;14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42" name="Google Shape;142;p22"/>
          <p:cNvPicPr preferRelativeResize="0"/>
          <p:nvPr/>
        </p:nvPicPr>
        <p:blipFill>
          <a:blip r:embed="rId3">
            <a:alphaModFix/>
          </a:blip>
          <a:stretch>
            <a:fillRect/>
          </a:stretch>
        </p:blipFill>
        <p:spPr>
          <a:xfrm>
            <a:off x="157075" y="1094388"/>
            <a:ext cx="4908274" cy="3666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3"/>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p>
            <a:pPr indent="0" lvl="0" marL="0" marR="0" rtl="0" algn="l">
              <a:lnSpc>
                <a:spcPct val="100000"/>
              </a:lnSpc>
              <a:spcBef>
                <a:spcPts val="0"/>
              </a:spcBef>
              <a:spcAft>
                <a:spcPts val="0"/>
              </a:spcAft>
              <a:buSzPts val="990"/>
              <a:buNone/>
            </a:pPr>
            <a:r>
              <a:rPr lang="fr" sz="2580"/>
              <a:t>Répartition</a:t>
            </a:r>
            <a:r>
              <a:rPr lang="fr" sz="2580"/>
              <a:t> H/F des tranches de salaire par service</a:t>
            </a:r>
            <a:endParaRPr sz="2580"/>
          </a:p>
        </p:txBody>
      </p:sp>
      <p:sp>
        <p:nvSpPr>
          <p:cNvPr id="148" name="Google Shape;14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49" name="Google Shape;149;p23"/>
          <p:cNvPicPr preferRelativeResize="0"/>
          <p:nvPr/>
        </p:nvPicPr>
        <p:blipFill>
          <a:blip r:embed="rId3">
            <a:alphaModFix/>
          </a:blip>
          <a:stretch>
            <a:fillRect/>
          </a:stretch>
        </p:blipFill>
        <p:spPr>
          <a:xfrm>
            <a:off x="0" y="865325"/>
            <a:ext cx="4484100" cy="3633872"/>
          </a:xfrm>
          <a:prstGeom prst="rect">
            <a:avLst/>
          </a:prstGeom>
          <a:noFill/>
          <a:ln>
            <a:noFill/>
          </a:ln>
        </p:spPr>
      </p:pic>
      <p:pic>
        <p:nvPicPr>
          <p:cNvPr id="150" name="Google Shape;150;p23"/>
          <p:cNvPicPr preferRelativeResize="0"/>
          <p:nvPr/>
        </p:nvPicPr>
        <p:blipFill rotWithShape="1">
          <a:blip r:embed="rId4">
            <a:alphaModFix/>
          </a:blip>
          <a:srcRect b="0" l="0" r="2085" t="0"/>
          <a:stretch/>
        </p:blipFill>
        <p:spPr>
          <a:xfrm>
            <a:off x="4659900" y="865325"/>
            <a:ext cx="4484110" cy="3656201"/>
          </a:xfrm>
          <a:prstGeom prst="rect">
            <a:avLst/>
          </a:prstGeom>
          <a:noFill/>
          <a:ln>
            <a:noFill/>
          </a:ln>
        </p:spPr>
      </p:pic>
      <p:sp>
        <p:nvSpPr>
          <p:cNvPr id="151" name="Google Shape;151;p23"/>
          <p:cNvSpPr txBox="1"/>
          <p:nvPr/>
        </p:nvSpPr>
        <p:spPr>
          <a:xfrm>
            <a:off x="0" y="4490575"/>
            <a:ext cx="9144000" cy="5541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None/>
            </a:pPr>
            <a:r>
              <a:rPr lang="fr" sz="1200">
                <a:solidFill>
                  <a:schemeClr val="dk1"/>
                </a:solidFill>
                <a:latin typeface="Lato"/>
                <a:ea typeface="Lato"/>
                <a:cs typeface="Lato"/>
                <a:sym typeface="Lato"/>
              </a:rPr>
              <a:t>Dans tous les services, les postes les plus élevés sont occupés par des hommes, à l'exception du service de consulting. Il existe une inégalité dans l'accès des femmes et des hommes aux postes à très haute responsabilité, ce qui peut s'expliquer par l'ancienneté.</a:t>
            </a:r>
            <a:endParaRPr sz="1200">
              <a:solidFill>
                <a:schemeClr val="dk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fr" sz="2580"/>
              <a:t>Différence F/H  sur la promotion</a:t>
            </a:r>
            <a:endParaRPr sz="2580"/>
          </a:p>
        </p:txBody>
      </p:sp>
      <p:sp>
        <p:nvSpPr>
          <p:cNvPr id="157" name="Google Shape;15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58" name="Google Shape;158;p24"/>
          <p:cNvPicPr preferRelativeResize="0"/>
          <p:nvPr/>
        </p:nvPicPr>
        <p:blipFill>
          <a:blip r:embed="rId3">
            <a:alphaModFix/>
          </a:blip>
          <a:stretch>
            <a:fillRect/>
          </a:stretch>
        </p:blipFill>
        <p:spPr>
          <a:xfrm>
            <a:off x="152400" y="1170125"/>
            <a:ext cx="4985957" cy="3820973"/>
          </a:xfrm>
          <a:prstGeom prst="rect">
            <a:avLst/>
          </a:prstGeom>
          <a:noFill/>
          <a:ln>
            <a:noFill/>
          </a:ln>
        </p:spPr>
      </p:pic>
      <p:sp>
        <p:nvSpPr>
          <p:cNvPr id="159" name="Google Shape;159;p24"/>
          <p:cNvSpPr txBox="1"/>
          <p:nvPr/>
        </p:nvSpPr>
        <p:spPr>
          <a:xfrm>
            <a:off x="5538600" y="1683950"/>
            <a:ext cx="32937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a:solidFill>
                  <a:schemeClr val="dk1"/>
                </a:solidFill>
                <a:latin typeface="Lato"/>
                <a:ea typeface="Lato"/>
                <a:cs typeface="Lato"/>
                <a:sym typeface="Lato"/>
              </a:rPr>
              <a:t>Proportionnellement on a plus de femmes qui sont promues (21% vs 20%)</a:t>
            </a:r>
            <a:endParaRPr sz="1800">
              <a:solidFill>
                <a:schemeClr val="dk1"/>
              </a:solidFill>
              <a:latin typeface="Lato"/>
              <a:ea typeface="Lato"/>
              <a:cs typeface="Lato"/>
              <a:sym typeface="Lato"/>
            </a:endParaRPr>
          </a:p>
          <a:p>
            <a:pPr indent="0" lvl="0" marL="0" rtl="0" algn="l">
              <a:spcBef>
                <a:spcPts val="0"/>
              </a:spcBef>
              <a:spcAft>
                <a:spcPts val="0"/>
              </a:spcAft>
              <a:buNone/>
            </a:pPr>
            <a:r>
              <a:rPr lang="fr" sz="1800">
                <a:solidFill>
                  <a:schemeClr val="dk1"/>
                </a:solidFill>
                <a:latin typeface="Lato"/>
                <a:ea typeface="Lato"/>
                <a:cs typeface="Lato"/>
                <a:sym typeface="Lato"/>
              </a:rPr>
              <a:t>Ecart non significatif</a:t>
            </a:r>
            <a:endParaRPr sz="1800">
              <a:solidFill>
                <a:schemeClr val="dk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fr" sz="2580"/>
              <a:t>Différence F/H sur l’augmentation</a:t>
            </a:r>
            <a:endParaRPr sz="2580"/>
          </a:p>
        </p:txBody>
      </p:sp>
      <p:sp>
        <p:nvSpPr>
          <p:cNvPr id="165" name="Google Shape;16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166" name="Google Shape;166;p25"/>
          <p:cNvPicPr preferRelativeResize="0"/>
          <p:nvPr/>
        </p:nvPicPr>
        <p:blipFill>
          <a:blip r:embed="rId3">
            <a:alphaModFix/>
          </a:blip>
          <a:stretch>
            <a:fillRect/>
          </a:stretch>
        </p:blipFill>
        <p:spPr>
          <a:xfrm>
            <a:off x="152400" y="1170125"/>
            <a:ext cx="5039699" cy="3820976"/>
          </a:xfrm>
          <a:prstGeom prst="rect">
            <a:avLst/>
          </a:prstGeom>
          <a:noFill/>
          <a:ln>
            <a:noFill/>
          </a:ln>
        </p:spPr>
      </p:pic>
      <p:sp>
        <p:nvSpPr>
          <p:cNvPr id="167" name="Google Shape;167;p25"/>
          <p:cNvSpPr txBox="1"/>
          <p:nvPr/>
        </p:nvSpPr>
        <p:spPr>
          <a:xfrm>
            <a:off x="5605950" y="1605450"/>
            <a:ext cx="3337500" cy="184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fr" sz="1800">
                <a:solidFill>
                  <a:schemeClr val="dk1"/>
                </a:solidFill>
                <a:latin typeface="Lato"/>
                <a:ea typeface="Lato"/>
                <a:cs typeface="Lato"/>
                <a:sym typeface="Lato"/>
              </a:rPr>
              <a:t>Il existe une inégalité sur les augmentations en faveur des femmes, qui peut s'expliquer par la volonté de réduire les écarts salariaux entre les femmes et les hommes.</a:t>
            </a:r>
            <a:endParaRPr sz="1800">
              <a:solidFill>
                <a:schemeClr val="dk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311700" y="372725"/>
            <a:ext cx="8520600" cy="104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Conclusion</a:t>
            </a:r>
            <a:endParaRPr/>
          </a:p>
        </p:txBody>
      </p:sp>
      <p:sp>
        <p:nvSpPr>
          <p:cNvPr id="173" name="Google Shape;173;p26"/>
          <p:cNvSpPr txBox="1"/>
          <p:nvPr>
            <p:ph idx="1" type="body"/>
          </p:nvPr>
        </p:nvSpPr>
        <p:spPr>
          <a:xfrm>
            <a:off x="311700" y="1417800"/>
            <a:ext cx="8520600" cy="3150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a:t>Les données transmises ne nous permettent pas de calculer le score d'égalité femmes/hommes, car il nous manque les catégories socioprofessionnelles. Cependant, elles nous permettent de comprendre où se situe l'entreprise en termes d'inégalités entre femmes et hommes.</a:t>
            </a:r>
            <a:endParaRPr/>
          </a:p>
          <a:p>
            <a:pPr indent="0" lvl="0" marL="0" rtl="0" algn="l">
              <a:spcBef>
                <a:spcPts val="1200"/>
              </a:spcBef>
              <a:spcAft>
                <a:spcPts val="0"/>
              </a:spcAft>
              <a:buNone/>
            </a:pPr>
            <a:r>
              <a:rPr lang="fr"/>
              <a:t>Nous observons qu'il existe des inégalités entre femmes et hommes, notamment au niveau des salaires et de l'accès aux postes à haute responsabilité. Toutefois, une politique mise en place depuis 3 à 4 ans permet de réduire ces écarts, grâce à une augmentation du recrutement des femmes et à une augmentation de leurs salaires.</a:t>
            </a:r>
            <a:endParaRPr/>
          </a:p>
          <a:p>
            <a:pPr indent="0" lvl="0" marL="0" rtl="0" algn="l">
              <a:spcBef>
                <a:spcPts val="1200"/>
              </a:spcBef>
              <a:spcAft>
                <a:spcPts val="1200"/>
              </a:spcAft>
              <a:buNone/>
            </a:pPr>
            <a:r>
              <a:t/>
            </a:r>
            <a:endParaRPr/>
          </a:p>
        </p:txBody>
      </p:sp>
      <p:sp>
        <p:nvSpPr>
          <p:cNvPr id="174" name="Google Shape;17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ctrTitle"/>
          </p:nvPr>
        </p:nvSpPr>
        <p:spPr>
          <a:xfrm>
            <a:off x="1687325" y="807075"/>
            <a:ext cx="1837800" cy="9468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fr"/>
              <a:t>Q/A</a:t>
            </a:r>
            <a:endParaRPr/>
          </a:p>
        </p:txBody>
      </p:sp>
      <p:pic>
        <p:nvPicPr>
          <p:cNvPr id="180" name="Google Shape;180;p27"/>
          <p:cNvPicPr preferRelativeResize="0"/>
          <p:nvPr/>
        </p:nvPicPr>
        <p:blipFill>
          <a:blip r:embed="rId3">
            <a:alphaModFix/>
          </a:blip>
          <a:stretch>
            <a:fillRect/>
          </a:stretch>
        </p:blipFill>
        <p:spPr>
          <a:xfrm>
            <a:off x="4954878" y="0"/>
            <a:ext cx="4189122" cy="5143500"/>
          </a:xfrm>
          <a:prstGeom prst="rect">
            <a:avLst/>
          </a:prstGeom>
          <a:noFill/>
          <a:ln>
            <a:noFill/>
          </a:ln>
        </p:spPr>
      </p:pic>
      <p:sp>
        <p:nvSpPr>
          <p:cNvPr id="181" name="Google Shape;181;p27"/>
          <p:cNvSpPr txBox="1"/>
          <p:nvPr>
            <p:ph type="ctrTitle"/>
          </p:nvPr>
        </p:nvSpPr>
        <p:spPr>
          <a:xfrm>
            <a:off x="931025" y="3293750"/>
            <a:ext cx="3350400" cy="863700"/>
          </a:xfrm>
          <a:prstGeom prst="rect">
            <a:avLst/>
          </a:prstGeom>
        </p:spPr>
        <p:txBody>
          <a:bodyPr anchorCtr="0" anchor="b" bIns="91425" lIns="91425" spcFirstLastPara="1" rIns="91425" wrap="square" tIns="91425">
            <a:normAutofit fontScale="90000"/>
          </a:bodyPr>
          <a:lstStyle/>
          <a:p>
            <a:pPr indent="0" lvl="0" marL="0" rtl="0" algn="l">
              <a:spcBef>
                <a:spcPts val="1000"/>
              </a:spcBef>
              <a:spcAft>
                <a:spcPts val="0"/>
              </a:spcAft>
              <a:buNone/>
            </a:pPr>
            <a:r>
              <a:rPr lang="fr"/>
              <a:t>Thanks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