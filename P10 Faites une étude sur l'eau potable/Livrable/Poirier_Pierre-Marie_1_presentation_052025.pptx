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Nunito"/>
      <p:regular r:id="rId17"/>
      <p:bold r:id="rId18"/>
      <p:italic r:id="rId19"/>
      <p:boldItalic r:id="rId20"/>
    </p:embeddedFont>
    <p:embeddedFont>
      <p:font typeface="Maven Pro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Italic.fntdata"/><Relationship Id="rId11" Type="http://schemas.openxmlformats.org/officeDocument/2006/relationships/slide" Target="slides/slide6.xml"/><Relationship Id="rId22" Type="http://schemas.openxmlformats.org/officeDocument/2006/relationships/font" Target="fonts/MavenPro-bold.fntdata"/><Relationship Id="rId10" Type="http://schemas.openxmlformats.org/officeDocument/2006/relationships/slide" Target="slides/slide5.xml"/><Relationship Id="rId21" Type="http://schemas.openxmlformats.org/officeDocument/2006/relationships/font" Target="fonts/MavenPro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italic.fntdata"/><Relationship Id="rId6" Type="http://schemas.openxmlformats.org/officeDocument/2006/relationships/slide" Target="slides/slide1.xml"/><Relationship Id="rId18" Type="http://schemas.openxmlformats.org/officeDocument/2006/relationships/font" Target="fonts/Nuni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5cad8794f8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5cad8794f8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5cad8794f8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5cad8794f8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5cad8794f8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5cad8794f8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616be2a95d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616be2a95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616be2a95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616be2a95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5cad8794f8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5cad8794f8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5cad8794f8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5cad8794f8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5cad8794f8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5cad8794f8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5f806ed7e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5f806ed7e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5cad8794f8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5cad8794f8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Etude sur l’eau potable dans le monde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5828875" y="4461950"/>
            <a:ext cx="2764200" cy="5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Drinking Water For All</a:t>
            </a:r>
            <a:endParaRPr/>
          </a:p>
        </p:txBody>
      </p:sp>
      <p:pic>
        <p:nvPicPr>
          <p:cNvPr id="279" name="Google Shape;279;p13" title="16248045970252_Screenshot 2021-06-27 at 16.35.58.png"/>
          <p:cNvPicPr preferRelativeResize="0"/>
          <p:nvPr/>
        </p:nvPicPr>
        <p:blipFill rotWithShape="1">
          <a:blip r:embed="rId3">
            <a:alphaModFix/>
          </a:blip>
          <a:srcRect b="10707" l="26609" r="28930" t="8051"/>
          <a:stretch/>
        </p:blipFill>
        <p:spPr>
          <a:xfrm>
            <a:off x="5828900" y="2687250"/>
            <a:ext cx="2764150" cy="177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Timeline de la présentation</a:t>
            </a:r>
            <a:endParaRPr/>
          </a:p>
        </p:txBody>
      </p:sp>
      <p:pic>
        <p:nvPicPr>
          <p:cNvPr id="286" name="Google Shape;28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50275"/>
            <a:ext cx="8839201" cy="2566484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Contexte</a:t>
            </a:r>
            <a:endParaRPr/>
          </a:p>
        </p:txBody>
      </p:sp>
      <p:sp>
        <p:nvSpPr>
          <p:cNvPr id="293" name="Google Shape;293;p15"/>
          <p:cNvSpPr txBox="1"/>
          <p:nvPr>
            <p:ph idx="1" type="body"/>
          </p:nvPr>
        </p:nvSpPr>
        <p:spPr>
          <a:xfrm>
            <a:off x="777675" y="1509175"/>
            <a:ext cx="7447200" cy="32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fr" sz="1325"/>
              <a:t>Client </a:t>
            </a:r>
            <a:r>
              <a:rPr lang="fr" sz="1325"/>
              <a:t>: DWFA, association humanitaire engagée afin de permettre à toutes les populations du monde d’accéder à une eau potable sûre.</a:t>
            </a:r>
            <a:endParaRPr sz="1325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325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fr" sz="1325"/>
              <a:t>Objectif </a:t>
            </a:r>
            <a:r>
              <a:rPr lang="fr" sz="1325"/>
              <a:t>: Identifier un pays cible pour un futur investissement, en lien avec une demande de financement auprès d’un bailleur de fonds.</a:t>
            </a:r>
            <a:endParaRPr sz="1325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325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fr" sz="1325"/>
              <a:t>Axes d’analyse </a:t>
            </a:r>
            <a:r>
              <a:rPr lang="fr" sz="1325"/>
              <a:t>:</a:t>
            </a:r>
            <a:endParaRPr sz="1325"/>
          </a:p>
          <a:p>
            <a:pPr indent="-312737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25"/>
              <a:buChar char="-"/>
            </a:pPr>
            <a:r>
              <a:rPr lang="fr" sz="1325"/>
              <a:t>Création de services d’accès à l’eau potable</a:t>
            </a:r>
            <a:endParaRPr sz="1325"/>
          </a:p>
          <a:p>
            <a:pPr indent="-312737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25"/>
              <a:buChar char="-"/>
            </a:pPr>
            <a:r>
              <a:rPr lang="fr" sz="1325"/>
              <a:t>Modernisation des services existants</a:t>
            </a:r>
            <a:endParaRPr sz="1325"/>
          </a:p>
          <a:p>
            <a:pPr indent="-312737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25"/>
              <a:buChar char="-"/>
            </a:pPr>
            <a:r>
              <a:rPr lang="fr" sz="1325"/>
              <a:t>Conseil aux gouvernements en matière de politiques publiques liées à l’eau</a:t>
            </a:r>
            <a:endParaRPr sz="1325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325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fr" sz="1325"/>
              <a:t>Livrable attendu </a:t>
            </a:r>
            <a:r>
              <a:rPr lang="fr" sz="1325"/>
              <a:t>: </a:t>
            </a:r>
            <a:endParaRPr sz="1325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fr" sz="1325"/>
              <a:t>Tableau de bord interactif permettant :</a:t>
            </a:r>
            <a:endParaRPr sz="1325"/>
          </a:p>
          <a:p>
            <a:pPr indent="-312737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25"/>
              <a:buChar char="-"/>
            </a:pPr>
            <a:r>
              <a:rPr lang="fr" sz="1325"/>
              <a:t>D’identifier les pays ayant des difficultés d’accès à l’eau</a:t>
            </a:r>
            <a:endParaRPr sz="1325"/>
          </a:p>
          <a:p>
            <a:pPr indent="-312737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25"/>
              <a:buChar char="-"/>
            </a:pPr>
            <a:r>
              <a:rPr lang="fr" sz="1325"/>
              <a:t>De repérer ceux où un investissement serait pertinent</a:t>
            </a:r>
            <a:endParaRPr sz="1325"/>
          </a:p>
          <a:p>
            <a:pPr indent="-312737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25"/>
              <a:buChar char="-"/>
            </a:pPr>
            <a:r>
              <a:rPr lang="fr" sz="1325"/>
              <a:t>De visualiser les données selon les 3 domaines d’expertise</a:t>
            </a:r>
            <a:endParaRPr sz="1325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325"/>
          </a:p>
        </p:txBody>
      </p:sp>
      <p:sp>
        <p:nvSpPr>
          <p:cNvPr id="294" name="Google Shape;294;p1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6"/>
          <p:cNvSpPr txBox="1"/>
          <p:nvPr>
            <p:ph idx="1" type="body"/>
          </p:nvPr>
        </p:nvSpPr>
        <p:spPr>
          <a:xfrm>
            <a:off x="780600" y="1558875"/>
            <a:ext cx="83313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fr" sz="1325"/>
              <a:t>Contenu </a:t>
            </a:r>
            <a:r>
              <a:rPr lang="fr" sz="1325"/>
              <a:t>:</a:t>
            </a:r>
            <a:endParaRPr sz="1325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fr" sz="1325"/>
              <a:t>Données issues de l’OMS, FAO, base interne DWFA</a:t>
            </a:r>
            <a:endParaRPr sz="1325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fr" sz="1325"/>
              <a:t>Format des données : CSV, livrés avec dictionnaire des données</a:t>
            </a:r>
            <a:endParaRPr sz="1325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325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fr" sz="1325"/>
              <a:t>Outils utilisés </a:t>
            </a:r>
            <a:r>
              <a:rPr lang="fr" sz="1325"/>
              <a:t>: Il y a Tableau Prep mais payant. Finalement nous avons choisi Python (pandas, numpy, etc.)</a:t>
            </a:r>
            <a:endParaRPr sz="1325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325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fr" sz="1325"/>
              <a:t>Problèmes rencontrés </a:t>
            </a:r>
            <a:r>
              <a:rPr lang="fr" sz="1325"/>
              <a:t>:</a:t>
            </a:r>
            <a:endParaRPr sz="1325"/>
          </a:p>
          <a:p>
            <a:pPr indent="-312737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25"/>
              <a:buChar char="-"/>
            </a:pPr>
            <a:r>
              <a:rPr lang="fr" sz="1325"/>
              <a:t>Incohérences dans la dénomination des pays :</a:t>
            </a:r>
            <a:endParaRPr sz="1325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fr" sz="1325"/>
              <a:t>Exemples : "China Mainland", "Macao", "Hong Kong", "Taiwan" apparaissent séparément ou fusionnés selon les fichiers.</a:t>
            </a:r>
            <a:endParaRPr sz="1325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fr" sz="1325"/>
              <a:t>Solution : Harmonisation des pays</a:t>
            </a:r>
            <a:endParaRPr sz="1325"/>
          </a:p>
          <a:p>
            <a:pPr indent="-312737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25"/>
              <a:buChar char="-"/>
            </a:pPr>
            <a:r>
              <a:rPr lang="fr" sz="1325"/>
              <a:t>Totaux par ligne :</a:t>
            </a:r>
            <a:endParaRPr sz="1325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325"/>
              <a:t>Solution : Faire un pivot pour passer les totaux en colonnes</a:t>
            </a:r>
            <a:endParaRPr sz="1325"/>
          </a:p>
        </p:txBody>
      </p:sp>
      <p:sp>
        <p:nvSpPr>
          <p:cNvPr id="300" name="Google Shape;300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Préparation des données</a:t>
            </a:r>
            <a:endParaRPr/>
          </a:p>
        </p:txBody>
      </p:sp>
      <p:sp>
        <p:nvSpPr>
          <p:cNvPr id="301" name="Google Shape;301;p1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Préparation des données</a:t>
            </a:r>
            <a:endParaRPr/>
          </a:p>
        </p:txBody>
      </p:sp>
      <p:sp>
        <p:nvSpPr>
          <p:cNvPr id="307" name="Google Shape;307;p1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308" name="Google Shape;30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50275"/>
            <a:ext cx="8839198" cy="26643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Préparation des données</a:t>
            </a:r>
            <a:endParaRPr/>
          </a:p>
        </p:txBody>
      </p:sp>
      <p:sp>
        <p:nvSpPr>
          <p:cNvPr id="314" name="Google Shape;314;p1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315" name="Google Shape;31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2500" y="1365300"/>
            <a:ext cx="6808276" cy="153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18"/>
          <p:cNvPicPr preferRelativeResize="0"/>
          <p:nvPr/>
        </p:nvPicPr>
        <p:blipFill rotWithShape="1">
          <a:blip r:embed="rId4">
            <a:alphaModFix/>
          </a:blip>
          <a:srcRect b="64638" l="0" r="9812" t="0"/>
          <a:stretch/>
        </p:blipFill>
        <p:spPr>
          <a:xfrm>
            <a:off x="121600" y="3151700"/>
            <a:ext cx="4866824" cy="1716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42425" y="3151700"/>
            <a:ext cx="3674619" cy="17165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8" name="Google Shape;318;p18"/>
          <p:cNvCxnSpPr/>
          <p:nvPr/>
        </p:nvCxnSpPr>
        <p:spPr>
          <a:xfrm>
            <a:off x="3103050" y="2918250"/>
            <a:ext cx="0" cy="19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9" name="Google Shape;319;p18"/>
          <p:cNvCxnSpPr>
            <a:endCxn id="317" idx="1"/>
          </p:cNvCxnSpPr>
          <p:nvPr/>
        </p:nvCxnSpPr>
        <p:spPr>
          <a:xfrm>
            <a:off x="4988525" y="4009963"/>
            <a:ext cx="153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Blue Print</a:t>
            </a:r>
            <a:endParaRPr/>
          </a:p>
        </p:txBody>
      </p:sp>
      <p:pic>
        <p:nvPicPr>
          <p:cNvPr id="325" name="Google Shape;32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41586"/>
            <a:ext cx="9144001" cy="3023663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Choix de l’outil</a:t>
            </a:r>
            <a:endParaRPr/>
          </a:p>
        </p:txBody>
      </p:sp>
      <p:sp>
        <p:nvSpPr>
          <p:cNvPr id="332" name="Google Shape;332;p20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Choix de Tableau pour 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Excellentes capacités de storytelling et de visualisation interactive</a:t>
            </a:r>
            <a:endParaRPr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Navigation intuitive pour les non-techniciens</a:t>
            </a:r>
            <a:endParaRPr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Gestion performante des filtres multi-niveaux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Présentation du tableau de bord</a:t>
            </a:r>
            <a:endParaRPr/>
          </a:p>
        </p:txBody>
      </p:sp>
      <p:sp>
        <p:nvSpPr>
          <p:cNvPr id="339" name="Google Shape;339;p2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Conclusion</a:t>
            </a:r>
            <a:endParaRPr/>
          </a:p>
        </p:txBody>
      </p:sp>
      <p:sp>
        <p:nvSpPr>
          <p:cNvPr id="345" name="Google Shape;345;p22"/>
          <p:cNvSpPr txBox="1"/>
          <p:nvPr/>
        </p:nvSpPr>
        <p:spPr>
          <a:xfrm>
            <a:off x="1124175" y="1597875"/>
            <a:ext cx="72918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Critères utilisés :</a:t>
            </a:r>
            <a:endParaRPr b="1"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-"/>
            </a:pPr>
            <a:r>
              <a:rPr lang="fr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Besoin en accès à l’eau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-"/>
            </a:pPr>
            <a:r>
              <a:rPr lang="fr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Stabilité politique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-"/>
            </a:pPr>
            <a:r>
              <a:rPr lang="fr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Volonté gouvernementale (politique publique en place)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Pays identifiés comme prioritaires :</a:t>
            </a:r>
            <a:endParaRPr b="1"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Exemple : Angola,	Zambie, Rwanda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Prochaine étape :</a:t>
            </a:r>
            <a:endParaRPr b="1"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-"/>
            </a:pPr>
            <a:r>
              <a:rPr lang="fr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Approfondir l’étude dans 2 pays shortlistés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-"/>
            </a:pPr>
            <a:r>
              <a:rPr lang="fr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Proposer un plan d’action par domaine (création, modernisation, conseil)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6" name="Google Shape;346;p2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Thanks you!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Q/A</a:t>
            </a:r>
            <a:endParaRPr/>
          </a:p>
        </p:txBody>
      </p:sp>
      <p:sp>
        <p:nvSpPr>
          <p:cNvPr id="352" name="Google Shape;352;p2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