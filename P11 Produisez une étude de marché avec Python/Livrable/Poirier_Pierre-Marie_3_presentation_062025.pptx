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T Sans Narrow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ansNarrow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7419c5dd7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7419c5dd7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7419c5dd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7419c5dd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7419c5dd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7419c5dd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a351c51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a351c51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7419c5dd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7419c5dd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7419c5dd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7419c5dd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a351c516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a351c516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7419c5dd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77419c5dd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a351c516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a351c516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7419c5dd7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7419c5dd7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4f32fca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4f32fca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4f32fcac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4f32fcac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4f32fcac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64f32fcac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4f32fcac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4f32fcac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4f32fcac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64f32fcac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4f32fcac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4f32fcac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Expansion à l’internationale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Cibler de nouveaux marchés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Poule qui chante</a:t>
            </a:r>
            <a:endParaRPr/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Contexte et objectifs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🗝️ </a:t>
            </a:r>
            <a:r>
              <a:rPr lang="fr"/>
              <a:t>Contexte : Notre entreprise cherche à exporter nos produits de poulet à l’international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🚀 </a:t>
            </a:r>
            <a:r>
              <a:rPr lang="fr"/>
              <a:t>Mission : Utiliser l’analyse de données pour identifier et caractériser des pays qui partagent des caractéristiques similaires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⭐ Objectif:  Cibler quelques pays pertinents pour une étude de marché approfondie en vue d’une expansion réussie</a:t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Collecte des données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15800" y="1597269"/>
            <a:ext cx="8312400" cy="5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👨‍🎓</a:t>
            </a:r>
            <a:r>
              <a:rPr lang="fr"/>
              <a:t>Méthode PESTEL :  Variable Politique, Économique, Social, Technologique, Environnemental, Légal.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15800" y="2615725"/>
            <a:ext cx="8312400" cy="21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📉 </a:t>
            </a:r>
            <a:r>
              <a:rPr lang="fr"/>
              <a:t>2 </a:t>
            </a:r>
            <a:r>
              <a:rPr lang="fr"/>
              <a:t>variables ont été exclues de l'analyse en raison d'un manque de données suffisantes : les droits de douane, qui sont trop faibles pour être discriminants, et le score environnemental (EPI), qui n'était pas disponible pour la majorité des pays</a:t>
            </a:r>
            <a:endParaRPr/>
          </a:p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Collecte des données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54700" y="1203800"/>
            <a:ext cx="4127400" cy="26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📊 </a:t>
            </a:r>
            <a:r>
              <a:rPr lang="fr"/>
              <a:t>Les 8 Variables Clés retenues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Disponibilité intérieure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Importations de poulet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Nourriture (consommation)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Production de poulet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Population 2017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Evolution démographique 2012-2017 (feature)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PIB/habitant 2017($)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Evolution PIB 2012-2017 (feature)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4182100" y="1682575"/>
            <a:ext cx="4840500" cy="1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💪 </a:t>
            </a:r>
            <a:r>
              <a:rPr lang="fr"/>
              <a:t>Sources Fiables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organisations internationales reconnues FAO et la Banque Mondiale.</a:t>
            </a:r>
            <a:endParaRPr/>
          </a:p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182100" y="3242050"/>
            <a:ext cx="4840500" cy="16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🌍 </a:t>
            </a:r>
            <a:r>
              <a:rPr lang="fr"/>
              <a:t>Couverture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L'analyse porte sur 152 pays pour garantir une vue d'ensemble représentative du marché mondial.</a:t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3247200" y="1994400"/>
            <a:ext cx="9348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247200" y="3838800"/>
            <a:ext cx="934800" cy="288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des données</a:t>
            </a:r>
            <a:endParaRPr/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Garantir la qualité de l’analyse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Un dataframe final avec 1 ligne par pays et l’ensemble de ses variables.</a:t>
            </a:r>
            <a:br>
              <a:rPr lang="fr"/>
            </a:br>
            <a:r>
              <a:rPr lang="fr"/>
              <a:t>Suppression des pays avec valeurs manquantes</a:t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33025"/>
            <a:ext cx="9144000" cy="1698718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en Composantes Principales (ACP)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92825" y="1088500"/>
            <a:ext cx="87099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5"/>
              <a:t>Objectif : Simplifier l’information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5"/>
              <a:t>Réduire la complexité de nos 8 variables en 2 variables synthétique appelées composantes principales (F1,F2)</a:t>
            </a:r>
            <a:endParaRPr sz="1265"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0" y="1619275"/>
            <a:ext cx="4293951" cy="339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899000" y="2269225"/>
            <a:ext cx="3933300" cy="18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/>
              <a:t>L’éboulis nous permet de visualiser la perte d’information en fonction du nombre de composante choisie. </a:t>
            </a:r>
            <a:endParaRPr sz="13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300"/>
              <a:t>Au final les 2 premières composantes nous permettent de garder &gt;60% d’informations</a:t>
            </a:r>
            <a:endParaRPr sz="1300"/>
          </a:p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en Composantes Principales (ACP)</a:t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850" y="1152425"/>
            <a:ext cx="4092058" cy="36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4651200" y="1094400"/>
            <a:ext cx="4461000" cy="40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Axe F1 (45.3% de la variance totale)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droite : Pays très peuplés et autosuffisants en matière de nourriture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gauche : Pays moins peuplés ou ayant une faible disponibilité alimentaire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Axe F2 (16.8% de la variance</a:t>
            </a:r>
            <a:r>
              <a:rPr lang="fr"/>
              <a:t>)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haut : les pays riches fortement importateurs / En bas : pays moins développés se trouvent en bas.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Relation entre les variables :</a:t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Corrélation positive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Population/ Consommation / Dispo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fr"/>
              <a:t>Corrélation négative 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 Importation+PIB/hab et  démographie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Pays avec une forte évolution démographique ne sont pas les plus riches ou les plus grands importateurs.</a:t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Projection de l’ACP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5122992" y="1152425"/>
            <a:ext cx="39963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5"/>
              <a:t>Les pays qui sont proches les uns des autres sur ce graphique sont ceux qui partagent les mêmes caractéristiques sur les importations de poulet</a:t>
            </a:r>
            <a:br>
              <a:rPr lang="fr" sz="1265"/>
            </a:b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3775"/>
            <a:ext cx="4792749" cy="392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Clusterisation</a:t>
            </a:r>
            <a:endParaRPr/>
          </a:p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489609" y="1152425"/>
            <a:ext cx="86298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2 </a:t>
            </a:r>
            <a:r>
              <a:rPr lang="fr" sz="1265"/>
              <a:t>méthodes de clustering complémentaires pour garantir la fiabilité des résultats :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-3089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65"/>
              <a:buChar char="-"/>
            </a:pPr>
            <a:r>
              <a:rPr lang="fr" sz="1265"/>
              <a:t>K-Means : partitionne l'ensemble des pays en groupes homogènes.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-308927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65"/>
              <a:buChar char="-"/>
            </a:pPr>
            <a:r>
              <a:rPr lang="fr" sz="1265"/>
              <a:t>Classification Hiérarchique : Regroupe les pays en fonction de leur proximité, ce qui permet de valider notre choix de segmentation.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Le croisement des résultats de ces deux méthodes nous permettra de vous présenter des clusters pertinents et fiables pour notre stratégie d'exportation.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Classification par Ascendance Hiérarchique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6812397" y="1152425"/>
            <a:ext cx="2307000" cy="35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5"/>
              <a:t>Hiérarchie avec distance entre les pays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br>
              <a:rPr lang="fr" sz="1265"/>
            </a:br>
            <a:r>
              <a:rPr lang="fr" sz="1265"/>
              <a:t>On voit qu’à 15 la distance entre les fusion de clusters est la plus grande. On a donc 4 clusters significatifs et facile à interpréter</a:t>
            </a:r>
            <a:endParaRPr sz="1265"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25" y="1152425"/>
            <a:ext cx="6646364" cy="383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Classification par Ascendance Hiérarchique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1860425" y="2748875"/>
            <a:ext cx="17646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1 :</a:t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Pays très peuplé et riche qui produit et consomme beaucoup et importe peu</a:t>
            </a:r>
            <a:endParaRPr sz="1265"/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152409" y="4049150"/>
            <a:ext cx="9119400" cy="7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--- Cluster 2 ---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AFRIQUE DU SUD, ALLEMAGNE, ARABIE SAOUDITE, BELGIQUE, ÉMIRATS ARABES UNIS, FRANCE, JAPON, MEXIQUE ,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PAYS-BAS, ROYAUME-UNI</a:t>
            </a:r>
            <a:endParaRPr sz="1265"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50" y="1036898"/>
            <a:ext cx="8679900" cy="172567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579125" y="2762575"/>
            <a:ext cx="17355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2 :</a:t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fr" sz="1265"/>
            </a:br>
            <a:r>
              <a:rPr lang="fr" sz="1265"/>
              <a:t>Pays très riche assez peuplé qui importe massivement consomme pas mal et produise peu</a:t>
            </a:r>
            <a:endParaRPr sz="1265"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5314625" y="2762575"/>
            <a:ext cx="17355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3 :</a:t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Pays très pauvre et peu peuplé qui produit, importe et consomme peu</a:t>
            </a:r>
            <a:endParaRPr sz="1265"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050125" y="2762575"/>
            <a:ext cx="17355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4 :</a:t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Pays </a:t>
            </a:r>
            <a:r>
              <a:rPr lang="fr" sz="1265"/>
              <a:t>légèrement</a:t>
            </a:r>
            <a:r>
              <a:rPr lang="fr" sz="1265"/>
              <a:t> pauvre moyennement peuplé qui produit pas mal et importe presque pas</a:t>
            </a:r>
            <a:endParaRPr sz="126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5882186" y="1282380"/>
            <a:ext cx="3196200" cy="33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On a une 1ere cassure à 4.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 On a déjà constaté que 4 clusters étaient pertinents avec la CAH. 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Choisir 4 clusters pour le K-Means nous permettra de comparer les résultats des deux méthodes. Si les groupes se recoupent en partie, cela renforcera la validité de notre segmentation.</a:t>
            </a:r>
            <a:endParaRPr sz="1265"/>
          </a:p>
        </p:txBody>
      </p:sp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clusterisation par K-means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4825"/>
            <a:ext cx="5577386" cy="351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1956175" y="2874975"/>
            <a:ext cx="1771800" cy="13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0 :</a:t>
            </a:r>
            <a:br>
              <a:rPr lang="fr" sz="1265"/>
            </a:br>
            <a:r>
              <a:rPr lang="fr" sz="1265"/>
              <a:t>Pays très pauvre pas très peuplé qui produit consomme et importe peu</a:t>
            </a:r>
            <a:endParaRPr sz="1265"/>
          </a:p>
        </p:txBody>
      </p:sp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La clusterisation par K-means</a:t>
            </a:r>
            <a:endParaRPr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152375" y="4131225"/>
            <a:ext cx="87597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---</a:t>
            </a:r>
            <a:r>
              <a:rPr lang="fr" sz="1265"/>
              <a:t> Cluster 1--- 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AFRIQUE DU SUD, ALLEMAGNE, ARABIE SAOUDITE, ÉMIRATS ARABES UNIS, FRANCE, JAPON, MEXIQUE, PAYS-BAS,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ROYAUME-UNI</a:t>
            </a:r>
            <a:endParaRPr sz="1265"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78364"/>
            <a:ext cx="9144001" cy="179662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>
            <p:ph idx="1" type="body"/>
          </p:nvPr>
        </p:nvSpPr>
        <p:spPr>
          <a:xfrm>
            <a:off x="3727975" y="2874975"/>
            <a:ext cx="1771800" cy="13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1 :</a:t>
            </a:r>
            <a:br>
              <a:rPr lang="fr" sz="1265"/>
            </a:br>
            <a:r>
              <a:rPr lang="fr" sz="1265"/>
              <a:t>Pays </a:t>
            </a:r>
            <a:r>
              <a:rPr lang="fr" sz="1265"/>
              <a:t>extrêmement</a:t>
            </a:r>
            <a:r>
              <a:rPr lang="fr" sz="1265"/>
              <a:t> riche peuplé consomme et importe pas mal</a:t>
            </a:r>
            <a:endParaRPr sz="1265"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5521913" y="2874975"/>
            <a:ext cx="1771800" cy="13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2 :</a:t>
            </a:r>
            <a:br>
              <a:rPr lang="fr" sz="1265"/>
            </a:br>
            <a:r>
              <a:rPr lang="fr" sz="1265"/>
              <a:t>Pays très riche </a:t>
            </a:r>
            <a:r>
              <a:rPr lang="fr" sz="1265"/>
              <a:t>extrêmement</a:t>
            </a:r>
            <a:r>
              <a:rPr lang="fr" sz="1265"/>
              <a:t> peuplé qui produit et consomme vraiment beaucoup et importe moyennement</a:t>
            </a:r>
            <a:endParaRPr sz="1265"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7315850" y="2900838"/>
            <a:ext cx="1771800" cy="13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Cluster 3 :</a:t>
            </a:r>
            <a:br>
              <a:rPr lang="fr" sz="1265"/>
            </a:br>
            <a:r>
              <a:rPr lang="fr" sz="1265"/>
              <a:t>Pays un peu pauvre, moyennement peuplé, produit importe et consomme peu</a:t>
            </a:r>
            <a:endParaRPr sz="126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Représentation géographique des clusters</a:t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118175" y="1033850"/>
            <a:ext cx="3903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Carte </a:t>
            </a:r>
            <a:r>
              <a:rPr lang="fr" sz="1265"/>
              <a:t>choroplèthe</a:t>
            </a:r>
            <a:r>
              <a:rPr lang="fr" sz="1265"/>
              <a:t> de K-mean</a:t>
            </a:r>
            <a:endParaRPr sz="1265"/>
          </a:p>
        </p:txBody>
      </p:sp>
      <p:pic>
        <p:nvPicPr>
          <p:cNvPr id="182" name="Google Shape;182;p26"/>
          <p:cNvPicPr preferRelativeResize="0"/>
          <p:nvPr/>
        </p:nvPicPr>
        <p:blipFill rotWithShape="1">
          <a:blip r:embed="rId3">
            <a:alphaModFix/>
          </a:blip>
          <a:srcRect b="0" l="0" r="0" t="2210"/>
          <a:stretch/>
        </p:blipFill>
        <p:spPr>
          <a:xfrm>
            <a:off x="118175" y="1685125"/>
            <a:ext cx="4015075" cy="19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6"/>
          <p:cNvPicPr preferRelativeResize="0"/>
          <p:nvPr/>
        </p:nvPicPr>
        <p:blipFill rotWithShape="1">
          <a:blip r:embed="rId4">
            <a:alphaModFix/>
          </a:blip>
          <a:srcRect b="0" l="1263" r="0" t="0"/>
          <a:stretch/>
        </p:blipFill>
        <p:spPr>
          <a:xfrm>
            <a:off x="4753625" y="1662825"/>
            <a:ext cx="3964375" cy="197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0150" y="3659275"/>
            <a:ext cx="74295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4894250" y="1033850"/>
            <a:ext cx="3903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Carte choroplèthe de CAH</a:t>
            </a:r>
            <a:endParaRPr sz="1265"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1320075" y="3955825"/>
            <a:ext cx="67509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Liste des pays en commun :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AFRIQUE DU SUD ALLEMAGNE ARABIE SAOUDITE ÉMIRATS ARABES UNIS FRANCE JAPON 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MEXIQUE PAYS-BAS ROYAUME-UNI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</p:txBody>
      </p:sp>
      <p:pic>
        <p:nvPicPr>
          <p:cNvPr id="187" name="Google Shape;187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50" y="3682650"/>
            <a:ext cx="877724" cy="84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ACP</a:t>
            </a:r>
            <a:endParaRPr/>
          </a:p>
        </p:txBody>
      </p:sp>
      <p:sp>
        <p:nvSpPr>
          <p:cNvPr id="193" name="Google Shape;19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94" name="Google Shape;194;p27"/>
          <p:cNvSpPr txBox="1"/>
          <p:nvPr>
            <p:ph idx="1" type="body"/>
          </p:nvPr>
        </p:nvSpPr>
        <p:spPr>
          <a:xfrm>
            <a:off x="118175" y="1033850"/>
            <a:ext cx="3903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Projection de </a:t>
            </a:r>
            <a:r>
              <a:rPr lang="fr" sz="1265"/>
              <a:t>K-mean dans l’acp</a:t>
            </a:r>
            <a:endParaRPr sz="1265"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4894250" y="1033850"/>
            <a:ext cx="3903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Projection de CAH dans l’acp</a:t>
            </a:r>
            <a:r>
              <a:rPr lang="fr" sz="1265"/>
              <a:t> </a:t>
            </a:r>
            <a:endParaRPr sz="1265"/>
          </a:p>
        </p:txBody>
      </p:sp>
      <p:pic>
        <p:nvPicPr>
          <p:cNvPr id="196" name="Google Shape;19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0769" y="1298025"/>
            <a:ext cx="4572007" cy="3719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1" y="1304865"/>
            <a:ext cx="4571995" cy="371915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/>
          <p:nvPr/>
        </p:nvSpPr>
        <p:spPr>
          <a:xfrm>
            <a:off x="2373400" y="1463700"/>
            <a:ext cx="813900" cy="15048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1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7"/>
          <p:cNvSpPr/>
          <p:nvPr/>
        </p:nvSpPr>
        <p:spPr>
          <a:xfrm>
            <a:off x="6935525" y="1456875"/>
            <a:ext cx="642900" cy="1374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77825" y="1315675"/>
            <a:ext cx="8611200" cy="33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Les résultats de notre analyse de segmentation révèlent un groupe de pays au profil idéal pour l'exportation.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Notre recommandation est de cibler d'abord nos voisins européens les plus prometteurs pour leur potentiel de marché et leur proximité géographique. 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Nous proposons de concentrer nos prochaines études sur :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L'Allemagne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Les Pays-Bas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65"/>
              <a:t>Le Royaume-Uni</a:t>
            </a:r>
            <a:endParaRPr sz="1265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